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29184" y="1170432"/>
            <a:ext cx="6355080" cy="731520"/>
          </a:xfrm>
        </p:spPr>
        <p:txBody>
          <a:bodyPr wrap="square" anchor="b" lIns="0" rIns="0"/>
          <a:lstStyle/>
          <a:p>
            <a:pPr algn="l"/>
            <a:r>
              <a:rPr sz="2000" b="1">
                <a:solidFill>
                  <a:srgbClr val="241043"/>
                </a:solidFill>
                <a:latin typeface="Times New Roman"/>
              </a:rPr>
              <a:t>Heat warnings measured per neighbourhood, per body, per hour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" y="2139696"/>
            <a:ext cx="6355080" cy="4069080"/>
          </a:xfrm>
          <a:prstGeom prst="rect">
            <a:avLst/>
          </a:prstGeom>
          <a:noFill/>
        </p:spPr>
        <p:txBody>
          <a:bodyPr wrap="square" rtlCol="0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 i="0">
                <a:solidFill>
                  <a:srgbClr val="7A7F91"/>
                </a:solidFill>
                <a:latin typeface="Arial"/>
                <a:ea typeface="Arial"/>
                <a:cs typeface="Arial"/>
              </a:rPr>
              <a:t>Problem Statement ID –</a:t>
            </a:r>
            <a:endParaRPr lang="en-US" dirty="0"/>
          </a:p>
          <a:p>
            <a:pPr algn="l">
              <a:lnSpc>
                <a:spcPct val="94000"/>
              </a:lnSpc>
              <a:spcBef>
                <a:spcPts val="200"/>
              </a:spcBef>
            </a:pPr>
            <a:r>
              <a:rPr sz="2000" b="1" i="0">
                <a:solidFill>
                  <a:srgbClr val="241043"/>
                </a:solidFill>
                <a:latin typeface="Arial"/>
                <a:ea typeface="Arial"/>
                <a:cs typeface="Arial"/>
              </a:rPr>
              <a:t>26083</a:t>
            </a:r>
          </a:p>
          <a:p>
            <a:pPr algn="l">
              <a:lnSpc>
                <a:spcPct val="98000"/>
              </a:lnSpc>
              <a:spcBef>
                <a:spcPts val="1100"/>
              </a:spcBef>
            </a:pPr>
            <a:r>
              <a:rPr sz="1150" b="1" i="0">
                <a:solidFill>
                  <a:srgbClr val="7A7F91"/>
                </a:solidFill>
                <a:latin typeface="Arial"/>
                <a:ea typeface="Arial"/>
                <a:cs typeface="Arial"/>
              </a:rPr>
              <a:t>Problem Statement Title-</a:t>
            </a:r>
          </a:p>
          <a:p>
            <a:pPr algn="l">
              <a:lnSpc>
                <a:spcPct val="94000"/>
              </a:lnSpc>
              <a:spcBef>
                <a:spcPts val="200"/>
              </a:spcBef>
            </a:pPr>
            <a:r>
              <a:rPr sz="1700" b="1" i="0">
                <a:solidFill>
                  <a:srgbClr val="241043"/>
                </a:solidFill>
                <a:latin typeface="Arial"/>
                <a:ea typeface="Arial"/>
                <a:cs typeface="Arial"/>
              </a:rPr>
              <a:t>Extreme Heatwave Early Warning and</a:t>
            </a:r>
          </a:p>
          <a:p>
            <a:pPr algn="l">
              <a:lnSpc>
                <a:spcPct val="94000"/>
              </a:lnSpc>
            </a:pPr>
            <a:r>
              <a:rPr sz="1700" b="1" i="0">
                <a:solidFill>
                  <a:srgbClr val="241043"/>
                </a:solidFill>
                <a:latin typeface="Arial"/>
                <a:ea typeface="Arial"/>
                <a:cs typeface="Arial"/>
              </a:rPr>
              <a:t>Human Thermal Stress Index</a:t>
            </a:r>
          </a:p>
          <a:p>
            <a:pPr algn="l">
              <a:lnSpc>
                <a:spcPct val="98000"/>
              </a:lnSpc>
              <a:spcBef>
                <a:spcPts val="1100"/>
              </a:spcBef>
            </a:pPr>
            <a:r>
              <a:rPr sz="1150" b="1" i="0">
                <a:solidFill>
                  <a:srgbClr val="7A7F91"/>
                </a:solidFill>
                <a:latin typeface="Arial"/>
                <a:ea typeface="Arial"/>
                <a:cs typeface="Arial"/>
              </a:rPr>
              <a:t>Theme-</a:t>
            </a:r>
          </a:p>
          <a:p>
            <a:pPr algn="l">
              <a:lnSpc>
                <a:spcPct val="94000"/>
              </a:lnSpc>
              <a:spcBef>
                <a:spcPts val="200"/>
              </a:spcBef>
            </a:pPr>
            <a:r>
              <a:rPr sz="1800" b="1" i="0">
                <a:solidFill>
                  <a:srgbClr val="241043"/>
                </a:solidFill>
                <a:latin typeface="Arial"/>
                <a:ea typeface="Arial"/>
                <a:cs typeface="Arial"/>
              </a:rPr>
              <a:t>Disaster Management</a:t>
            </a:r>
          </a:p>
          <a:p>
            <a:pPr algn="l">
              <a:lnSpc>
                <a:spcPct val="98000"/>
              </a:lnSpc>
              <a:spcBef>
                <a:spcPts val="1100"/>
              </a:spcBef>
            </a:pPr>
            <a:r>
              <a:rPr sz="1150" b="1" i="0">
                <a:solidFill>
                  <a:srgbClr val="7A7F91"/>
                </a:solidFill>
                <a:latin typeface="Arial"/>
                <a:ea typeface="Arial"/>
                <a:cs typeface="Arial"/>
              </a:rPr>
              <a:t>PS Category- Software</a:t>
            </a:r>
          </a:p>
          <a:p>
            <a:pPr algn="l">
              <a:lnSpc>
                <a:spcPct val="98000"/>
              </a:lnSpc>
              <a:spcBef>
                <a:spcPts val="1100"/>
              </a:spcBef>
            </a:pPr>
            <a:r>
              <a:rPr sz="1150" b="1" i="0">
                <a:solidFill>
                  <a:srgbClr val="7A7F91"/>
                </a:solidFill>
                <a:latin typeface="Arial"/>
                <a:ea typeface="Arial"/>
                <a:cs typeface="Arial"/>
              </a:rPr>
              <a:t>Team Name (Registered on portal)</a:t>
            </a:r>
          </a:p>
          <a:p>
            <a:pPr algn="l">
              <a:lnSpc>
                <a:spcPct val="94000"/>
              </a:lnSpc>
              <a:spcBef>
                <a:spcPts val="200"/>
              </a:spcBef>
            </a:pPr>
            <a:r>
              <a:rPr sz="2000" b="1" i="0">
                <a:solidFill>
                  <a:srgbClr val="241043"/>
                </a:solidFill>
                <a:latin typeface="Arial"/>
                <a:ea typeface="Arial"/>
                <a:cs typeface="Arial"/>
              </a:rPr>
              <a:t>HeatLens</a:t>
            </a:r>
          </a:p>
          <a:p>
            <a:pPr algn="l">
              <a:lnSpc>
                <a:spcPct val="112000"/>
              </a:lnSpc>
              <a:spcBef>
                <a:spcPts val="2000"/>
              </a:spcBef>
            </a:pPr>
            <a:r>
              <a:rPr sz="1200" b="0" i="1">
                <a:solidFill>
                  <a:srgbClr val="3A3F52"/>
                </a:solidFill>
                <a:latin typeface="Calibri"/>
                <a:ea typeface="Calibri"/>
                <a:cs typeface="Calibri"/>
              </a:rPr>
              <a:t>A heatwave warning tells you the air temperature. It does not tell you what that heat does to a person.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100" b="1" i="0">
                <a:solidFill>
                  <a:srgbClr val="8E1038"/>
                </a:solidFill>
                <a:latin typeface="Calibri"/>
                <a:ea typeface="Calibri"/>
                <a:cs typeface="Calibri"/>
              </a:rPr>
              <a:t>Prototype: 392 neighbourhoods · 135 passing physics tests · runs offline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00784" y="182880"/>
            <a:ext cx="2194560" cy="731520"/>
          </a:xfrm>
        </p:spPr>
        <p:txBody>
          <a:bodyPr/>
          <a:lstStyle/>
          <a:p>
            <a:pPr eaLnBrk="1" hangingPunct="1" algn="l"/>
            <a:r>
              <a:rPr lang="en-US" sz="3200" b="1" dirty="0">
                <a:solidFill>
                  <a:srgbClr val="241043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HeatLens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184" y="182880"/>
            <a:ext cx="1133856" cy="58521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b="1" sz="1100">
                <a:solidFill>
                  <a:srgbClr val="241043"/>
                </a:solidFill>
              </a:rPr>
              <a:t>HeatLens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3657600" y="310896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8E1038"/>
                </a:solidFill>
                <a:latin typeface="Calibri"/>
                <a:ea typeface="Calibri"/>
                <a:cs typeface="Calibri"/>
              </a:rPr>
              <a:t>A heatwave warning measured on the body, not the thermometer</a:t>
            </a:r>
          </a:p>
        </p:txBody>
      </p:sp>
      <p:sp>
        <p:nvSpPr>
          <p:cNvPr id="15364" name="Hexagon 15363"/>
          <p:cNvSpPr/>
          <p:nvPr/>
        </p:nvSpPr>
        <p:spPr>
          <a:xfrm>
            <a:off x="384048" y="1001268"/>
            <a:ext cx="132588" cy="114300"/>
          </a:xfrm>
          <a:prstGeom prst="hexagon">
            <a:avLst/>
          </a:prstGeom>
          <a:solidFill>
            <a:srgbClr val="8E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566928" y="950976"/>
            <a:ext cx="1123797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50" b="1" i="0">
                <a:solidFill>
                  <a:srgbClr val="8E1038"/>
                </a:solidFill>
                <a:latin typeface="Calibri"/>
                <a:ea typeface="Calibri"/>
                <a:cs typeface="Calibri"/>
              </a:rPr>
              <a:t>Proposed Solution (Describe your Idea/Solution/Prototype)</a:t>
            </a:r>
          </a:p>
        </p:txBody>
      </p:sp>
      <p:pic>
        <p:nvPicPr>
          <p:cNvPr id="15366" name="Picture 15365" descr="d2_s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243584"/>
            <a:ext cx="11420856" cy="3023279"/>
          </a:xfrm>
          <a:prstGeom prst="rect">
            <a:avLst/>
          </a:prstGeom>
        </p:spPr>
      </p:pic>
      <p:sp>
        <p:nvSpPr>
          <p:cNvPr id="15367" name="TextBox 15366"/>
          <p:cNvSpPr txBox="1"/>
          <p:nvPr/>
        </p:nvSpPr>
        <p:spPr>
          <a:xfrm>
            <a:off x="384048" y="4389120"/>
            <a:ext cx="368503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Detailed explanation of the proposed solution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384048" y="4663440"/>
            <a:ext cx="3685032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05156" indent="-105156">
              <a:lnSpc>
                <a:spcPct val="103000"/>
              </a:lnSpc>
              <a:buClr>
                <a:srgbClr val="8E1038"/>
              </a:buClr>
              <a:buSzPct val="95000"/>
              <a:buFont typeface="Arial"/>
              <a:buChar char="•"/>
            </a:pPr>
            <a:r>
              <a:rPr sz="919" b="0" i="0">
                <a:solidFill>
                  <a:srgbClr val="3A3F52"/>
                </a:solidFill>
                <a:latin typeface="Calibri"/>
                <a:ea typeface="Calibri"/>
                <a:cs typeface="Calibri"/>
              </a:rPr>
              <a:t>We cut the city into 392 small zones, each about the size of a neighbourhood.</a:t>
            </a:r>
          </a:p>
          <a:p>
            <a:pPr algn="l" marL="105156" indent="-105156">
              <a:lnSpc>
                <a:spcPct val="103000"/>
              </a:lnSpc>
              <a:spcBef>
                <a:spcPts val="500"/>
              </a:spcBef>
              <a:buClr>
                <a:srgbClr val="8E1038"/>
              </a:buClr>
              <a:buSzPct val="95000"/>
              <a:buFont typeface="Arial"/>
              <a:buChar char="•"/>
            </a:pPr>
            <a:r>
              <a:rPr sz="919" b="0" i="0">
                <a:solidFill>
                  <a:srgbClr val="3A3F52"/>
                </a:solidFill>
                <a:latin typeface="Calibri"/>
                <a:ea typeface="Calibri"/>
                <a:cs typeface="Calibri"/>
              </a:rPr>
              <a:t>For every zone and every hour we work out what the heat does to a body — using the limits doctors and safety inspectors already use.</a:t>
            </a:r>
          </a:p>
          <a:p>
            <a:pPr algn="l" marL="105156" indent="-105156">
              <a:lnSpc>
                <a:spcPct val="103000"/>
              </a:lnSpc>
              <a:spcBef>
                <a:spcPts val="500"/>
              </a:spcBef>
              <a:buClr>
                <a:srgbClr val="8E1038"/>
              </a:buClr>
              <a:buSzPct val="95000"/>
              <a:buFont typeface="Arial"/>
              <a:buChar char="•"/>
            </a:pPr>
            <a:r>
              <a:rPr sz="919" b="0" i="0">
                <a:solidFill>
                  <a:srgbClr val="3A3F52"/>
                </a:solidFill>
                <a:latin typeface="Calibri"/>
                <a:ea typeface="Calibri"/>
                <a:cs typeface="Calibri"/>
              </a:rPr>
              <a:t>That becomes one plain number: how many minutes it is safe to be outside.</a:t>
            </a:r>
          </a:p>
          <a:p>
            <a:pPr algn="l" marL="105156" indent="-105156">
              <a:lnSpc>
                <a:spcPct val="103000"/>
              </a:lnSpc>
              <a:spcBef>
                <a:spcPts val="500"/>
              </a:spcBef>
              <a:buClr>
                <a:srgbClr val="8E1038"/>
              </a:buClr>
              <a:buSzPct val="95000"/>
              <a:buFont typeface="Arial"/>
              <a:buChar char="•"/>
            </a:pPr>
            <a:r>
              <a:rPr sz="919" b="0" i="0">
                <a:solidFill>
                  <a:srgbClr val="3A3F52"/>
                </a:solidFill>
                <a:latin typeface="Calibri"/>
                <a:ea typeface="Calibri"/>
                <a:cs typeface="Calibri"/>
              </a:rPr>
              <a:t>The whole thing is a single file that opens with no internet.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4251960" y="4389120"/>
            <a:ext cx="368503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How it addresses the problem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251960" y="4663440"/>
            <a:ext cx="3685032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05156" indent="-105156">
              <a:lnSpc>
                <a:spcPct val="103000"/>
              </a:lnSpc>
              <a:buClr>
                <a:srgbClr val="8E1038"/>
              </a:buClr>
              <a:buSzPct val="95000"/>
              <a:buFont typeface="Arial"/>
              <a:buChar char="•"/>
            </a:pPr>
            <a:r>
              <a:rPr sz="919" b="0" i="0">
                <a:solidFill>
                  <a:srgbClr val="3A3F52"/>
                </a:solidFill>
                <a:latin typeface="Calibri"/>
                <a:ea typeface="Calibri"/>
                <a:cs typeface="Calibri"/>
              </a:rPr>
              <a:t>Today a whole district gets one temperature, one or two days ahead.</a:t>
            </a:r>
          </a:p>
          <a:p>
            <a:pPr algn="l" marL="105156" indent="-105156">
              <a:lnSpc>
                <a:spcPct val="103000"/>
              </a:lnSpc>
              <a:spcBef>
                <a:spcPts val="500"/>
              </a:spcBef>
              <a:buClr>
                <a:srgbClr val="8E1038"/>
              </a:buClr>
              <a:buSzPct val="95000"/>
              <a:buFont typeface="Arial"/>
              <a:buChar char="•"/>
            </a:pPr>
            <a:r>
              <a:rPr sz="919" b="0" i="0">
                <a:solidFill>
                  <a:srgbClr val="3A3F52"/>
                </a:solidFill>
                <a:latin typeface="Calibri"/>
                <a:ea typeface="Calibri"/>
                <a:cs typeface="Calibri"/>
              </a:rPr>
              <a:t>That number cannot tell a dry 40 °C from a sticky 40 °C — and only one of those is workable outdoors.</a:t>
            </a:r>
          </a:p>
          <a:p>
            <a:pPr algn="l" marL="105156" indent="-105156">
              <a:lnSpc>
                <a:spcPct val="103000"/>
              </a:lnSpc>
              <a:spcBef>
                <a:spcPts val="500"/>
              </a:spcBef>
              <a:buClr>
                <a:srgbClr val="8E1038"/>
              </a:buClr>
              <a:buSzPct val="95000"/>
              <a:buFont typeface="Arial"/>
              <a:buChar char="•"/>
            </a:pPr>
            <a:r>
              <a:rPr sz="919" b="0" i="0">
                <a:solidFill>
                  <a:srgbClr val="3A3F52"/>
                </a:solidFill>
                <a:latin typeface="Calibri"/>
                <a:ea typeface="Calibri"/>
                <a:cs typeface="Calibri"/>
              </a:rPr>
              <a:t>We answer street by street, five days ahead, in the language people actually speak.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8119872" y="4389120"/>
            <a:ext cx="368503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Innovation and uniqueness of the solution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8119872" y="4663440"/>
            <a:ext cx="3685032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05156" indent="-105156">
              <a:lnSpc>
                <a:spcPct val="103000"/>
              </a:lnSpc>
              <a:buClr>
                <a:srgbClr val="8E1038"/>
              </a:buClr>
              <a:buSzPct val="95000"/>
              <a:buFont typeface="Arial"/>
              <a:buChar char="•"/>
            </a:pPr>
            <a:r>
              <a:rPr sz="919" b="0" i="0">
                <a:solidFill>
                  <a:srgbClr val="3A3F52"/>
                </a:solidFill>
                <a:latin typeface="Calibri"/>
                <a:ea typeface="Calibri"/>
                <a:cs typeface="Calibri"/>
              </a:rPr>
              <a:t>We pick the right measure for the weather that day. In May 2010 the usual worker index hid the danger; the “feels like” one showed it.</a:t>
            </a:r>
          </a:p>
          <a:p>
            <a:pPr algn="l" marL="105156" indent="-105156">
              <a:lnSpc>
                <a:spcPct val="103000"/>
              </a:lnSpc>
              <a:spcBef>
                <a:spcPts val="500"/>
              </a:spcBef>
              <a:buClr>
                <a:srgbClr val="8E1038"/>
              </a:buClr>
              <a:buSzPct val="95000"/>
              <a:buFont typeface="Arial"/>
              <a:buChar char="•"/>
            </a:pPr>
            <a:r>
              <a:rPr sz="919" b="0" i="0">
                <a:solidFill>
                  <a:srgbClr val="3A3F52"/>
                </a:solidFill>
                <a:latin typeface="Calibri"/>
                <a:ea typeface="Calibri"/>
                <a:cs typeface="Calibri"/>
              </a:rPr>
              <a:t>We count the nights. Seven in a row never dropped below 27 °C — no daytime warning can see that.</a:t>
            </a:r>
          </a:p>
          <a:p>
            <a:pPr algn="l" marL="105156" indent="-105156">
              <a:lnSpc>
                <a:spcPct val="103000"/>
              </a:lnSpc>
              <a:spcBef>
                <a:spcPts val="500"/>
              </a:spcBef>
              <a:buClr>
                <a:srgbClr val="8E1038"/>
              </a:buClr>
              <a:buSzPct val="95000"/>
              <a:buFont typeface="Arial"/>
              <a:buChar char="•"/>
            </a:pPr>
            <a:r>
              <a:rPr sz="919" b="0" i="0">
                <a:solidFill>
                  <a:srgbClr val="3A3F52"/>
                </a:solidFill>
                <a:latin typeface="Calibri"/>
                <a:ea typeface="Calibri"/>
                <a:cs typeface="Calibri"/>
              </a:rPr>
              <a:t>We print what we do not know on the face of the tool.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00784" y="182880"/>
            <a:ext cx="7955279" cy="731520"/>
          </a:xfrm>
        </p:spPr>
        <p:txBody>
          <a:bodyPr/>
          <a:lstStyle/>
          <a:p>
            <a:pPr eaLnBrk="1" hangingPunct="1"/>
            <a:r>
              <a:rPr lang="en-US" sz="3000" b="1" dirty="0">
                <a:solidFill>
                  <a:srgbClr val="241043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184" y="182880"/>
            <a:ext cx="1133856" cy="58521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b="1" sz="1100">
                <a:solidFill>
                  <a:srgbClr val="241043"/>
                </a:solidFill>
              </a:rPr>
              <a:t>HeatLens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Hexagon 17409"/>
          <p:cNvSpPr/>
          <p:nvPr/>
        </p:nvSpPr>
        <p:spPr>
          <a:xfrm>
            <a:off x="384048" y="964692"/>
            <a:ext cx="132588" cy="114300"/>
          </a:xfrm>
          <a:prstGeom prst="hexagon">
            <a:avLst/>
          </a:prstGeom>
          <a:solidFill>
            <a:srgbClr val="8E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566928" y="91440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150" b="1" i="0">
                <a:solidFill>
                  <a:srgbClr val="8E1038"/>
                </a:solidFill>
                <a:latin typeface="Calibri"/>
                <a:ea typeface="Calibri"/>
                <a:cs typeface="Calibri"/>
              </a:rPr>
              <a:t>Technologies to be used (e.g. programming languages, frameworks, hardware)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84048" y="1188720"/>
            <a:ext cx="2761488" cy="283464"/>
          </a:xfrm>
          <a:prstGeom prst="roundRect">
            <a:avLst>
              <a:gd name="adj" fmla="val 16000"/>
            </a:avLst>
          </a:prstGeom>
          <a:solidFill>
            <a:srgbClr val="F5F2F8"/>
          </a:solidFill>
          <a:ln w="9525">
            <a:solidFill>
              <a:srgbClr val="E1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484632" y="1207008"/>
            <a:ext cx="2560320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C2185B"/>
                </a:solidFill>
                <a:latin typeface="Calibri"/>
                <a:ea typeface="Calibri"/>
                <a:cs typeface="Calibri"/>
              </a:rPr>
              <a:t>CORE  </a:t>
            </a:r>
            <a:r>
              <a:rPr sz="840" b="0" i="0">
                <a:solidFill>
                  <a:srgbClr val="3A3F52"/>
                </a:solidFill>
                <a:latin typeface="Calibri"/>
                <a:ea typeface="Calibri"/>
                <a:cs typeface="Calibri"/>
              </a:rPr>
              <a:t>Python 3.12 · NumPy · PyYAML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268980" y="1188720"/>
            <a:ext cx="2761488" cy="283464"/>
          </a:xfrm>
          <a:prstGeom prst="roundRect">
            <a:avLst>
              <a:gd name="adj" fmla="val 16000"/>
            </a:avLst>
          </a:prstGeom>
          <a:solidFill>
            <a:srgbClr val="F5F2F8"/>
          </a:solidFill>
          <a:ln w="9525">
            <a:solidFill>
              <a:srgbClr val="E1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3369564" y="1207008"/>
            <a:ext cx="2560320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C2185B"/>
                </a:solidFill>
                <a:latin typeface="Calibri"/>
                <a:ea typeface="Calibri"/>
                <a:cs typeface="Calibri"/>
              </a:rPr>
              <a:t>PHYSICS  </a:t>
            </a:r>
            <a:r>
              <a:rPr sz="840" b="0" i="0">
                <a:solidFill>
                  <a:srgbClr val="3A3F52"/>
                </a:solidFill>
                <a:latin typeface="Calibri"/>
                <a:ea typeface="Calibri"/>
                <a:cs typeface="Calibri"/>
              </a:rPr>
              <a:t>thermofeel (ECMWF) · Liljegren · UTCI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53912" y="1188720"/>
            <a:ext cx="2761488" cy="283464"/>
          </a:xfrm>
          <a:prstGeom prst="roundRect">
            <a:avLst>
              <a:gd name="adj" fmla="val 16000"/>
            </a:avLst>
          </a:prstGeom>
          <a:solidFill>
            <a:srgbClr val="F5F2F8"/>
          </a:solidFill>
          <a:ln w="9525">
            <a:solidFill>
              <a:srgbClr val="E1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6254496" y="1207008"/>
            <a:ext cx="2560320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C2185B"/>
                </a:solidFill>
                <a:latin typeface="Calibri"/>
                <a:ea typeface="Calibri"/>
                <a:cs typeface="Calibri"/>
              </a:rPr>
              <a:t>PHYSIOLOGY  </a:t>
            </a:r>
            <a:r>
              <a:rPr sz="840" b="0" i="0">
                <a:solidFill>
                  <a:srgbClr val="3A3F52"/>
                </a:solidFill>
                <a:latin typeface="Calibri"/>
                <a:ea typeface="Calibri"/>
                <a:cs typeface="Calibri"/>
              </a:rPr>
              <a:t>ISO 7243 · ACGIH TLV · ISO 7726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9038844" y="1188720"/>
            <a:ext cx="2761488" cy="283464"/>
          </a:xfrm>
          <a:prstGeom prst="roundRect">
            <a:avLst>
              <a:gd name="adj" fmla="val 16000"/>
            </a:avLst>
          </a:prstGeom>
          <a:solidFill>
            <a:srgbClr val="F5F2F8"/>
          </a:solidFill>
          <a:ln w="9525">
            <a:solidFill>
              <a:srgbClr val="E1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9139428" y="1207008"/>
            <a:ext cx="2560320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C2185B"/>
                </a:solidFill>
                <a:latin typeface="Calibri"/>
                <a:ea typeface="Calibri"/>
                <a:cs typeface="Calibri"/>
              </a:rPr>
              <a:t>GEOSPATIAL  </a:t>
            </a:r>
            <a:r>
              <a:rPr sz="840" b="0" i="0">
                <a:solidFill>
                  <a:srgbClr val="3A3F52"/>
                </a:solidFill>
                <a:latin typeface="Calibri"/>
                <a:ea typeface="Calibri"/>
                <a:cs typeface="Calibri"/>
              </a:rPr>
              <a:t>Uber H3 v4 · OpenStreetMap / Overpass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84048" y="1504188"/>
            <a:ext cx="2761488" cy="283464"/>
          </a:xfrm>
          <a:prstGeom prst="roundRect">
            <a:avLst>
              <a:gd name="adj" fmla="val 16000"/>
            </a:avLst>
          </a:prstGeom>
          <a:solidFill>
            <a:srgbClr val="F5F2F8"/>
          </a:solidFill>
          <a:ln w="9525">
            <a:solidFill>
              <a:srgbClr val="E1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484632" y="1522476"/>
            <a:ext cx="2560320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C2185B"/>
                </a:solidFill>
                <a:latin typeface="Calibri"/>
                <a:ea typeface="Calibri"/>
                <a:cs typeface="Calibri"/>
              </a:rPr>
              <a:t>WEATHER  </a:t>
            </a:r>
            <a:r>
              <a:rPr sz="840" b="0" i="0">
                <a:solidFill>
                  <a:srgbClr val="3A3F52"/>
                </a:solidFill>
                <a:latin typeface="Calibri"/>
                <a:ea typeface="Calibri"/>
                <a:cs typeface="Calibri"/>
              </a:rPr>
              <a:t>Open-Meteo ERA5 archive + forecast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268980" y="1504188"/>
            <a:ext cx="2761488" cy="283464"/>
          </a:xfrm>
          <a:prstGeom prst="roundRect">
            <a:avLst>
              <a:gd name="adj" fmla="val 16000"/>
            </a:avLst>
          </a:prstGeom>
          <a:solidFill>
            <a:srgbClr val="F5F2F8"/>
          </a:solidFill>
          <a:ln w="9525">
            <a:solidFill>
              <a:srgbClr val="E1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3369564" y="1522476"/>
            <a:ext cx="2560320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C2185B"/>
                </a:solidFill>
                <a:latin typeface="Calibri"/>
                <a:ea typeface="Calibri"/>
                <a:cs typeface="Calibri"/>
              </a:rPr>
              <a:t>FRONTEND  </a:t>
            </a:r>
            <a:r>
              <a:rPr sz="840" b="0" i="0">
                <a:solidFill>
                  <a:srgbClr val="3A3F52"/>
                </a:solidFill>
                <a:latin typeface="Calibri"/>
                <a:ea typeface="Calibri"/>
                <a:cs typeface="Calibri"/>
              </a:rPr>
              <a:t>React 18 · TypeScript · Vite · SVG map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153912" y="1504188"/>
            <a:ext cx="2761488" cy="283464"/>
          </a:xfrm>
          <a:prstGeom prst="roundRect">
            <a:avLst>
              <a:gd name="adj" fmla="val 16000"/>
            </a:avLst>
          </a:prstGeom>
          <a:solidFill>
            <a:srgbClr val="F5F2F8"/>
          </a:solidFill>
          <a:ln w="9525">
            <a:solidFill>
              <a:srgbClr val="E1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6254496" y="1522476"/>
            <a:ext cx="2560320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C2185B"/>
                </a:solidFill>
                <a:latin typeface="Calibri"/>
                <a:ea typeface="Calibri"/>
                <a:cs typeface="Calibri"/>
              </a:rPr>
              <a:t>DELIVERY  </a:t>
            </a:r>
            <a:r>
              <a:rPr sz="840" b="0" i="0">
                <a:solidFill>
                  <a:srgbClr val="3A3F52"/>
                </a:solidFill>
                <a:latin typeface="Calibri"/>
                <a:ea typeface="Calibri"/>
                <a:cs typeface="Calibri"/>
              </a:rPr>
              <a:t>one inlined index.html · CAP 1.2 XML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9038844" y="1504188"/>
            <a:ext cx="2761488" cy="283464"/>
          </a:xfrm>
          <a:prstGeom prst="roundRect">
            <a:avLst>
              <a:gd name="adj" fmla="val 16000"/>
            </a:avLst>
          </a:prstGeom>
          <a:solidFill>
            <a:srgbClr val="F5F2F8"/>
          </a:solidFill>
          <a:ln w="9525">
            <a:solidFill>
              <a:srgbClr val="E1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9139428" y="1522476"/>
            <a:ext cx="2560320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C2185B"/>
                </a:solidFill>
                <a:latin typeface="Calibri"/>
                <a:ea typeface="Calibri"/>
                <a:cs typeface="Calibri"/>
              </a:rPr>
              <a:t>QUALITY  </a:t>
            </a:r>
            <a:r>
              <a:rPr sz="840" b="0" i="0">
                <a:solidFill>
                  <a:srgbClr val="3A3F52"/>
                </a:solidFill>
                <a:latin typeface="Calibri"/>
                <a:ea typeface="Calibri"/>
                <a:cs typeface="Calibri"/>
              </a:rPr>
              <a:t>pytest ×135 · GitHub Actions, 6-hourly</a:t>
            </a:r>
          </a:p>
        </p:txBody>
      </p:sp>
      <p:sp>
        <p:nvSpPr>
          <p:cNvPr id="17428" name="Hexagon 17427"/>
          <p:cNvSpPr/>
          <p:nvPr/>
        </p:nvSpPr>
        <p:spPr>
          <a:xfrm>
            <a:off x="384048" y="1924812"/>
            <a:ext cx="132588" cy="114300"/>
          </a:xfrm>
          <a:prstGeom prst="hexagon">
            <a:avLst/>
          </a:prstGeom>
          <a:solidFill>
            <a:srgbClr val="8E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566928" y="1874519"/>
            <a:ext cx="1123797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150" b="1" i="0">
                <a:solidFill>
                  <a:srgbClr val="8E1038"/>
                </a:solidFill>
                <a:latin typeface="Calibri"/>
                <a:ea typeface="Calibri"/>
                <a:cs typeface="Calibri"/>
              </a:rPr>
              <a:t>Methodology and process for implementation (Flow Charts/Images/ working prototype)</a:t>
            </a:r>
          </a:p>
        </p:txBody>
      </p:sp>
      <p:pic>
        <p:nvPicPr>
          <p:cNvPr id="17430" name="Picture 17429" descr="d3_syst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139696"/>
            <a:ext cx="11420856" cy="40639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00784" y="182880"/>
            <a:ext cx="7955279" cy="731520"/>
          </a:xfrm>
        </p:spPr>
        <p:txBody>
          <a:bodyPr/>
          <a:lstStyle/>
          <a:p>
            <a:pPr eaLnBrk="1" hangingPunct="1"/>
            <a:r>
              <a:rPr lang="en-US" sz="3000" b="1" dirty="0">
                <a:solidFill>
                  <a:srgbClr val="241043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184" y="182880"/>
            <a:ext cx="1133856" cy="58521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b="1" sz="1100">
                <a:solidFill>
                  <a:srgbClr val="241043"/>
                </a:solidFill>
              </a:rPr>
              <a:t>HeatLens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Hexagon 17409"/>
          <p:cNvSpPr/>
          <p:nvPr/>
        </p:nvSpPr>
        <p:spPr>
          <a:xfrm>
            <a:off x="384048" y="982980"/>
            <a:ext cx="132588" cy="114300"/>
          </a:xfrm>
          <a:prstGeom prst="hexagon">
            <a:avLst/>
          </a:prstGeom>
          <a:solidFill>
            <a:srgbClr val="8E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566928" y="932688"/>
            <a:ext cx="541324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150" b="1" i="0">
                <a:solidFill>
                  <a:srgbClr val="8E1038"/>
                </a:solidFill>
                <a:latin typeface="Calibri"/>
                <a:ea typeface="Calibri"/>
                <a:cs typeface="Calibri"/>
              </a:rPr>
              <a:t>Analysis of the feasibility of the idea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66928" y="1170432"/>
            <a:ext cx="541324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Before building the product we tested whether the idea was true.</a:t>
            </a:r>
          </a:p>
        </p:txBody>
      </p:sp>
      <p:sp>
        <p:nvSpPr>
          <p:cNvPr id="17413" name="Hexagon 17412"/>
          <p:cNvSpPr/>
          <p:nvPr/>
        </p:nvSpPr>
        <p:spPr>
          <a:xfrm>
            <a:off x="6291072" y="982980"/>
            <a:ext cx="132588" cy="114300"/>
          </a:xfrm>
          <a:prstGeom prst="hexagon">
            <a:avLst/>
          </a:prstGeom>
          <a:solidFill>
            <a:srgbClr val="8E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6473952" y="93268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150" b="1" i="0">
                <a:solidFill>
                  <a:srgbClr val="8E1038"/>
                </a:solidFill>
                <a:latin typeface="Calibri"/>
                <a:ea typeface="Calibri"/>
                <a:cs typeface="Calibri"/>
              </a:rPr>
              <a:t>Potential challenges and risks</a:t>
            </a:r>
          </a:p>
        </p:txBody>
      </p:sp>
      <p:sp>
        <p:nvSpPr>
          <p:cNvPr id="17415" name="Hexagon 17414"/>
          <p:cNvSpPr/>
          <p:nvPr/>
        </p:nvSpPr>
        <p:spPr>
          <a:xfrm>
            <a:off x="6291072" y="1202436"/>
            <a:ext cx="132588" cy="114300"/>
          </a:xfrm>
          <a:prstGeom prst="hexagon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6473952" y="1152144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150" b="1" i="0">
                <a:solidFill>
                  <a:srgbClr val="2E7D5B"/>
                </a:solidFill>
                <a:latin typeface="Calibri"/>
                <a:ea typeface="Calibri"/>
                <a:cs typeface="Calibri"/>
              </a:rPr>
              <a:t>Strategies for overcoming these challenges</a:t>
            </a:r>
          </a:p>
        </p:txBody>
      </p:sp>
      <p:pic>
        <p:nvPicPr>
          <p:cNvPr id="17417" name="Picture 17416" descr="d4_g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371600"/>
            <a:ext cx="5596128" cy="4831299"/>
          </a:xfrm>
          <a:prstGeom prst="rect">
            <a:avLst/>
          </a:prstGeom>
        </p:spPr>
      </p:pic>
      <p:pic>
        <p:nvPicPr>
          <p:cNvPr id="17418" name="Picture 17417" descr="d4_risk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371600"/>
            <a:ext cx="5513832" cy="483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00784" y="182880"/>
            <a:ext cx="7955279" cy="731520"/>
          </a:xfrm>
        </p:spPr>
        <p:txBody>
          <a:bodyPr/>
          <a:lstStyle/>
          <a:p>
            <a:pPr eaLnBrk="1" hangingPunct="1"/>
            <a:r>
              <a:rPr lang="en-US" sz="3000" b="1" dirty="0">
                <a:solidFill>
                  <a:srgbClr val="241043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184" y="182880"/>
            <a:ext cx="1133856" cy="58521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b="1" sz="1100">
                <a:solidFill>
                  <a:srgbClr val="241043"/>
                </a:solidFill>
              </a:rPr>
              <a:t>HeatLens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Hexagon 17409"/>
          <p:cNvSpPr/>
          <p:nvPr/>
        </p:nvSpPr>
        <p:spPr>
          <a:xfrm>
            <a:off x="384048" y="982980"/>
            <a:ext cx="132588" cy="114300"/>
          </a:xfrm>
          <a:prstGeom prst="hexagon">
            <a:avLst/>
          </a:prstGeom>
          <a:solidFill>
            <a:srgbClr val="8E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566928" y="9326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150" b="1" i="0">
                <a:solidFill>
                  <a:srgbClr val="8E1038"/>
                </a:solidFill>
                <a:latin typeface="Calibri"/>
                <a:ea typeface="Calibri"/>
                <a:cs typeface="Calibri"/>
              </a:rPr>
              <a:t>Potential impact on the target audience</a:t>
            </a:r>
          </a:p>
        </p:txBody>
      </p:sp>
      <p:pic>
        <p:nvPicPr>
          <p:cNvPr id="17412" name="Picture 17411" descr="d5_peo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207008"/>
            <a:ext cx="7040880" cy="2509996"/>
          </a:xfrm>
          <a:prstGeom prst="rect">
            <a:avLst/>
          </a:prstGeom>
        </p:spPr>
      </p:pic>
      <p:pic>
        <p:nvPicPr>
          <p:cNvPr id="17413" name="Picture 17412" descr="v_worksafe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803904"/>
            <a:ext cx="7040880" cy="1911693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384048" y="5870448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Eight hours straight, on 21 May 2010, when no one could safely work outdoors at all.</a:t>
            </a:r>
          </a:p>
        </p:txBody>
      </p:sp>
      <p:sp>
        <p:nvSpPr>
          <p:cNvPr id="17415" name="Hexagon 17414"/>
          <p:cNvSpPr/>
          <p:nvPr/>
        </p:nvSpPr>
        <p:spPr>
          <a:xfrm>
            <a:off x="7699248" y="982980"/>
            <a:ext cx="132588" cy="114300"/>
          </a:xfrm>
          <a:prstGeom prst="hexagon">
            <a:avLst/>
          </a:prstGeom>
          <a:solidFill>
            <a:srgbClr val="8E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7882127" y="932688"/>
            <a:ext cx="392277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150" b="1" i="0">
                <a:solidFill>
                  <a:srgbClr val="8E1038"/>
                </a:solidFill>
                <a:latin typeface="Calibri"/>
                <a:ea typeface="Calibri"/>
                <a:cs typeface="Calibri"/>
              </a:rPr>
              <a:t>Benefits of the solution (social, economic, environmental, etc.)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7699248" y="1463040"/>
            <a:ext cx="4105656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1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7418" name="Picture 17417" descr="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7264" y="1600200"/>
            <a:ext cx="237744" cy="237744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8156448" y="1536192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8E1038"/>
                </a:solidFill>
                <a:latin typeface="Calibri"/>
                <a:ea typeface="Calibri"/>
                <a:cs typeface="Calibri"/>
              </a:rPr>
              <a:t>Social</a:t>
            </a:r>
          </a:p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3A3F52"/>
                </a:solidFill>
                <a:latin typeface="Calibri"/>
                <a:ea typeface="Calibri"/>
                <a:cs typeface="Calibri"/>
              </a:rPr>
              <a:t>Protects people who cannot simply stay indoors.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7699248" y="2039112"/>
            <a:ext cx="4105656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1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7421" name="Picture 17420" descr="rupe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7264" y="2176272"/>
            <a:ext cx="237744" cy="237744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8156448" y="2112264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D2541F"/>
                </a:solidFill>
                <a:latin typeface="Calibri"/>
                <a:ea typeface="Calibri"/>
                <a:cs typeface="Calibri"/>
              </a:rPr>
              <a:t>Economic</a:t>
            </a:r>
          </a:p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3A3F52"/>
                </a:solidFill>
                <a:latin typeface="Calibri"/>
                <a:ea typeface="Calibri"/>
                <a:cs typeface="Calibri"/>
              </a:rPr>
              <a:t>Moving hours saves work a blanket stop-work order loses.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7699248" y="2615184"/>
            <a:ext cx="4105656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1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7424" name="Picture 17423" descr="lea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7264" y="2752344"/>
            <a:ext cx="237744" cy="237744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8156448" y="2688336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2E7D5B"/>
                </a:solidFill>
                <a:latin typeface="Calibri"/>
                <a:ea typeface="Calibri"/>
                <a:cs typeface="Calibri"/>
              </a:rPr>
              <a:t>Environmental</a:t>
            </a:r>
          </a:p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3A3F52"/>
                </a:solidFill>
                <a:latin typeface="Calibri"/>
                <a:ea typeface="Calibri"/>
                <a:cs typeface="Calibri"/>
              </a:rPr>
              <a:t>Shows where trees and cool roofs buy the most.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7699248" y="3191256"/>
            <a:ext cx="4105656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1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7427" name="Picture 17426" descr="fi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27264" y="3328416"/>
            <a:ext cx="237744" cy="237744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8156448" y="326440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B6CA8"/>
                </a:solidFill>
                <a:latin typeface="Calibri"/>
                <a:ea typeface="Calibri"/>
                <a:cs typeface="Calibri"/>
              </a:rPr>
              <a:t>Institutional</a:t>
            </a:r>
          </a:p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3A3F52"/>
                </a:solidFill>
                <a:latin typeface="Calibri"/>
                <a:ea typeface="Calibri"/>
                <a:cs typeface="Calibri"/>
              </a:rPr>
              <a:t>Speaks the national alert format already in use.</a:t>
            </a:r>
          </a:p>
        </p:txBody>
      </p:sp>
      <p:pic>
        <p:nvPicPr>
          <p:cNvPr id="17429" name="Picture 17428" descr="v_nigh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9248" y="3803904"/>
            <a:ext cx="4105656" cy="1831233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7699248" y="5971032"/>
            <a:ext cx="410565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The part of a heatwave a daytime warning never sees.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00784" y="182880"/>
            <a:ext cx="7955279" cy="731520"/>
          </a:xfrm>
        </p:spPr>
        <p:txBody>
          <a:bodyPr/>
          <a:lstStyle/>
          <a:p>
            <a:pPr eaLnBrk="1" hangingPunct="1"/>
            <a:r>
              <a:rPr lang="en-US" sz="3000" b="1" dirty="0">
                <a:solidFill>
                  <a:srgbClr val="241043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184" y="182880"/>
            <a:ext cx="1133856" cy="58521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b="1" sz="1100">
                <a:solidFill>
                  <a:srgbClr val="241043"/>
                </a:solidFill>
              </a:rPr>
              <a:t>HeatLens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Hexagon 17409"/>
          <p:cNvSpPr/>
          <p:nvPr/>
        </p:nvSpPr>
        <p:spPr>
          <a:xfrm>
            <a:off x="384048" y="1056132"/>
            <a:ext cx="132588" cy="114300"/>
          </a:xfrm>
          <a:prstGeom prst="hexagon">
            <a:avLst/>
          </a:prstGeom>
          <a:solidFill>
            <a:srgbClr val="8E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566928" y="1005840"/>
            <a:ext cx="1123797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50" b="1" i="0">
                <a:solidFill>
                  <a:srgbClr val="8E1038"/>
                </a:solidFill>
                <a:latin typeface="Calibri"/>
                <a:ea typeface="Calibri"/>
                <a:cs typeface="Calibri"/>
              </a:rPr>
              <a:t>Details / Links of the reference and research work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84048" y="1353312"/>
            <a:ext cx="36850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019" b="1" i="0">
                <a:solidFill>
                  <a:srgbClr val="8E1038"/>
                </a:solidFill>
                <a:latin typeface="Calibri"/>
                <a:ea typeface="Calibri"/>
                <a:cs typeface="Calibri"/>
              </a:rPr>
              <a:t>Physics &amp; standards implemented</a:t>
            </a:r>
          </a:p>
        </p:txBody>
      </p:sp>
      <p:sp>
        <p:nvSpPr>
          <p:cNvPr id="17413" name="Hexagon 17412"/>
          <p:cNvSpPr/>
          <p:nvPr/>
        </p:nvSpPr>
        <p:spPr>
          <a:xfrm>
            <a:off x="384048" y="1719072"/>
            <a:ext cx="100766" cy="86868"/>
          </a:xfrm>
          <a:prstGeom prst="hexagon">
            <a:avLst/>
          </a:prstGeom>
          <a:solidFill>
            <a:srgbClr val="8E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539496" y="1659636"/>
            <a:ext cx="352958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Liljegren et al. (2008), J. Occup. Environ. Hyg.</a:t>
            </a:r>
          </a:p>
          <a:p>
            <a:pPr algn="l">
              <a:lnSpc>
                <a:spcPct val="104000"/>
              </a:lnSpc>
            </a:pPr>
            <a:r>
              <a:rPr sz="819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Solar-corrected WBGT; used via thermofeel (ECMWF).</a:t>
            </a:r>
          </a:p>
        </p:txBody>
      </p:sp>
      <p:sp>
        <p:nvSpPr>
          <p:cNvPr id="17415" name="Hexagon 17414"/>
          <p:cNvSpPr/>
          <p:nvPr/>
        </p:nvSpPr>
        <p:spPr>
          <a:xfrm>
            <a:off x="384048" y="2203704"/>
            <a:ext cx="100766" cy="86868"/>
          </a:xfrm>
          <a:prstGeom prst="hexagon">
            <a:avLst/>
          </a:prstGeom>
          <a:solidFill>
            <a:srgbClr val="8E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539496" y="2144268"/>
            <a:ext cx="352958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Bröde et al. (2012), Int. J. Biometeorol.</a:t>
            </a:r>
          </a:p>
          <a:p>
            <a:pPr algn="l">
              <a:lnSpc>
                <a:spcPct val="104000"/>
              </a:lnSpc>
            </a:pPr>
            <a:r>
              <a:rPr sz="819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The operational UTCI polynomial.</a:t>
            </a:r>
          </a:p>
        </p:txBody>
      </p:sp>
      <p:sp>
        <p:nvSpPr>
          <p:cNvPr id="17417" name="Hexagon 17416"/>
          <p:cNvSpPr/>
          <p:nvPr/>
        </p:nvSpPr>
        <p:spPr>
          <a:xfrm>
            <a:off x="384048" y="2688336"/>
            <a:ext cx="100766" cy="86868"/>
          </a:xfrm>
          <a:prstGeom prst="hexagon">
            <a:avLst/>
          </a:prstGeom>
          <a:solidFill>
            <a:srgbClr val="8E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539496" y="2628900"/>
            <a:ext cx="352958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Stull (2011), J. Appl. Meteorol. Climatol.</a:t>
            </a:r>
          </a:p>
          <a:p>
            <a:pPr algn="l">
              <a:lnSpc>
                <a:spcPct val="104000"/>
              </a:lnSpc>
            </a:pPr>
            <a:r>
              <a:rPr sz="819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doi:10.1175/JAMC-D-11-0143.1 — wet-bulb from T and RH.</a:t>
            </a:r>
          </a:p>
        </p:txBody>
      </p:sp>
      <p:sp>
        <p:nvSpPr>
          <p:cNvPr id="17419" name="Hexagon 17418"/>
          <p:cNvSpPr/>
          <p:nvPr/>
        </p:nvSpPr>
        <p:spPr>
          <a:xfrm>
            <a:off x="384048" y="3172968"/>
            <a:ext cx="100766" cy="86868"/>
          </a:xfrm>
          <a:prstGeom prst="hexagon">
            <a:avLst/>
          </a:prstGeom>
          <a:solidFill>
            <a:srgbClr val="8E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539496" y="3113532"/>
            <a:ext cx="352958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Rothfusz (1990) / NOAA NWS</a:t>
            </a:r>
          </a:p>
          <a:p>
            <a:pPr algn="l">
              <a:lnSpc>
                <a:spcPct val="104000"/>
              </a:lnSpc>
            </a:pPr>
            <a:r>
              <a:rPr sz="819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Heat Index regression and adjustments.</a:t>
            </a:r>
          </a:p>
        </p:txBody>
      </p:sp>
      <p:sp>
        <p:nvSpPr>
          <p:cNvPr id="17421" name="Hexagon 17420"/>
          <p:cNvSpPr/>
          <p:nvPr/>
        </p:nvSpPr>
        <p:spPr>
          <a:xfrm>
            <a:off x="384048" y="3657600"/>
            <a:ext cx="100766" cy="86868"/>
          </a:xfrm>
          <a:prstGeom prst="hexagon">
            <a:avLst/>
          </a:prstGeom>
          <a:solidFill>
            <a:srgbClr val="8E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539496" y="3598164"/>
            <a:ext cx="352958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ISO 7243:2017 · ISO 7726 · ISO 8996</a:t>
            </a:r>
          </a:p>
          <a:p>
            <a:pPr algn="l">
              <a:lnSpc>
                <a:spcPct val="104000"/>
              </a:lnSpc>
            </a:pPr>
            <a:r>
              <a:rPr sz="819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WBGT limits, mean radiant temperature, metabolic rate.</a:t>
            </a:r>
          </a:p>
        </p:txBody>
      </p:sp>
      <p:sp>
        <p:nvSpPr>
          <p:cNvPr id="17423" name="Hexagon 17422"/>
          <p:cNvSpPr/>
          <p:nvPr/>
        </p:nvSpPr>
        <p:spPr>
          <a:xfrm>
            <a:off x="384048" y="4142232"/>
            <a:ext cx="100766" cy="86868"/>
          </a:xfrm>
          <a:prstGeom prst="hexagon">
            <a:avLst/>
          </a:prstGeom>
          <a:solidFill>
            <a:srgbClr val="8E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539496" y="4082796"/>
            <a:ext cx="352958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ACGIH TLV®</a:t>
            </a:r>
          </a:p>
          <a:p>
            <a:pPr algn="l">
              <a:lnSpc>
                <a:spcPct val="104000"/>
              </a:lnSpc>
            </a:pPr>
            <a:r>
              <a:rPr sz="819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Work/rest allocation tables per metabolic class.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251960" y="1353312"/>
            <a:ext cx="36850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019" b="1" i="0">
                <a:solidFill>
                  <a:srgbClr val="1B6CA8"/>
                </a:solidFill>
                <a:latin typeface="Calibri"/>
                <a:ea typeface="Calibri"/>
                <a:cs typeface="Calibri"/>
              </a:rPr>
              <a:t>Data sources — free, global, no institutional access</a:t>
            </a:r>
          </a:p>
        </p:txBody>
      </p:sp>
      <p:sp>
        <p:nvSpPr>
          <p:cNvPr id="17426" name="Hexagon 17425"/>
          <p:cNvSpPr/>
          <p:nvPr/>
        </p:nvSpPr>
        <p:spPr>
          <a:xfrm>
            <a:off x="4251960" y="1719072"/>
            <a:ext cx="100766" cy="86868"/>
          </a:xfrm>
          <a:prstGeom prst="hexagon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4407408" y="1659636"/>
            <a:ext cx="352958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Open-Meteo</a:t>
            </a:r>
          </a:p>
          <a:p>
            <a:pPr algn="l">
              <a:lnSpc>
                <a:spcPct val="104000"/>
              </a:lnSpc>
            </a:pPr>
            <a:r>
              <a:rPr sz="819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ERA5 hourly archive and forecast API: temperature, humidity, wind, GHI/DNI/DHI.</a:t>
            </a:r>
          </a:p>
        </p:txBody>
      </p:sp>
      <p:sp>
        <p:nvSpPr>
          <p:cNvPr id="17428" name="Hexagon 17427"/>
          <p:cNvSpPr/>
          <p:nvPr/>
        </p:nvSpPr>
        <p:spPr>
          <a:xfrm>
            <a:off x="4251960" y="2203704"/>
            <a:ext cx="100766" cy="86868"/>
          </a:xfrm>
          <a:prstGeom prst="hexagon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4407408" y="2144268"/>
            <a:ext cx="352958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OpenStreetMap via Overpass API</a:t>
            </a:r>
          </a:p>
          <a:p>
            <a:pPr algn="l">
              <a:lnSpc>
                <a:spcPct val="104000"/>
              </a:lnSpc>
            </a:pPr>
            <a:r>
              <a:rPr sz="819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Road, green and water cover per H3 cell.</a:t>
            </a:r>
          </a:p>
        </p:txBody>
      </p:sp>
      <p:sp>
        <p:nvSpPr>
          <p:cNvPr id="17430" name="Hexagon 17429"/>
          <p:cNvSpPr/>
          <p:nvPr/>
        </p:nvSpPr>
        <p:spPr>
          <a:xfrm>
            <a:off x="4251960" y="2688336"/>
            <a:ext cx="100766" cy="86868"/>
          </a:xfrm>
          <a:prstGeom prst="hexagon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4407408" y="2628900"/>
            <a:ext cx="352958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Uber H3 v4</a:t>
            </a:r>
          </a:p>
          <a:p>
            <a:pPr algn="l">
              <a:lnSpc>
                <a:spcPct val="104000"/>
              </a:lnSpc>
            </a:pPr>
            <a:r>
              <a:rPr sz="819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Resolution-8 discrete global grid, ~0.74 km² cells.</a:t>
            </a:r>
          </a:p>
        </p:txBody>
      </p:sp>
      <p:sp>
        <p:nvSpPr>
          <p:cNvPr id="17432" name="Hexagon 17431"/>
          <p:cNvSpPr/>
          <p:nvPr/>
        </p:nvSpPr>
        <p:spPr>
          <a:xfrm>
            <a:off x="4251960" y="3172968"/>
            <a:ext cx="100766" cy="86868"/>
          </a:xfrm>
          <a:prstGeom prst="hexagon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4407408" y="3113532"/>
            <a:ext cx="352958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thermofeel (ECMWF)</a:t>
            </a:r>
          </a:p>
          <a:p>
            <a:pPr algn="l">
              <a:lnSpc>
                <a:spcPct val="104000"/>
              </a:lnSpc>
            </a:pPr>
            <a:r>
              <a:rPr sz="819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Operational reference implementation we validate against.</a:t>
            </a:r>
          </a:p>
        </p:txBody>
      </p:sp>
      <p:sp>
        <p:nvSpPr>
          <p:cNvPr id="17434" name="Hexagon 17433"/>
          <p:cNvSpPr/>
          <p:nvPr/>
        </p:nvSpPr>
        <p:spPr>
          <a:xfrm>
            <a:off x="4251960" y="3657600"/>
            <a:ext cx="100766" cy="86868"/>
          </a:xfrm>
          <a:prstGeom prst="hexagon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4407408" y="3598164"/>
            <a:ext cx="352958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OASIS CAP 1.2</a:t>
            </a:r>
          </a:p>
          <a:p>
            <a:pPr algn="l">
              <a:lnSpc>
                <a:spcPct val="104000"/>
              </a:lnSpc>
            </a:pPr>
            <a:r>
              <a:rPr sz="819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Alert interchange format; NDMA SACHET compatible.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8119872" y="1353312"/>
            <a:ext cx="36850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019" b="1" i="0">
                <a:solidFill>
                  <a:srgbClr val="D2541F"/>
                </a:solidFill>
                <a:latin typeface="Calibri"/>
                <a:ea typeface="Calibri"/>
                <a:cs typeface="Calibri"/>
              </a:rPr>
              <a:t>Evidence base for the problem</a:t>
            </a:r>
          </a:p>
        </p:txBody>
      </p:sp>
      <p:sp>
        <p:nvSpPr>
          <p:cNvPr id="17437" name="Hexagon 17436"/>
          <p:cNvSpPr/>
          <p:nvPr/>
        </p:nvSpPr>
        <p:spPr>
          <a:xfrm>
            <a:off x="8119872" y="1719072"/>
            <a:ext cx="100766" cy="86868"/>
          </a:xfrm>
          <a:prstGeom prst="hexagon">
            <a:avLst/>
          </a:prstGeom>
          <a:solidFill>
            <a:srgbClr val="D25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8275320" y="1659636"/>
            <a:ext cx="352958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Azhar et al. (2014), PLoS ONE</a:t>
            </a:r>
          </a:p>
          <a:p>
            <a:pPr algn="l">
              <a:lnSpc>
                <a:spcPct val="104000"/>
              </a:lnSpc>
            </a:pPr>
            <a:r>
              <a:rPr sz="819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Excess mortality in the May 2010 Ahmedabad heatwave.</a:t>
            </a:r>
          </a:p>
        </p:txBody>
      </p:sp>
      <p:sp>
        <p:nvSpPr>
          <p:cNvPr id="17439" name="Hexagon 17438"/>
          <p:cNvSpPr/>
          <p:nvPr/>
        </p:nvSpPr>
        <p:spPr>
          <a:xfrm>
            <a:off x="8119872" y="2203704"/>
            <a:ext cx="100766" cy="86868"/>
          </a:xfrm>
          <a:prstGeom prst="hexagon">
            <a:avLst/>
          </a:prstGeom>
          <a:solidFill>
            <a:srgbClr val="D25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8275320" y="2144268"/>
            <a:ext cx="352958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Knowlton et al. (2014), IJERPH</a:t>
            </a:r>
          </a:p>
          <a:p>
            <a:pPr algn="l">
              <a:lnSpc>
                <a:spcPct val="104000"/>
              </a:lnSpc>
            </a:pPr>
            <a:r>
              <a:rPr sz="819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Design of South Asia's first Heat Action Plan.</a:t>
            </a:r>
          </a:p>
        </p:txBody>
      </p:sp>
      <p:sp>
        <p:nvSpPr>
          <p:cNvPr id="17441" name="Hexagon 17440"/>
          <p:cNvSpPr/>
          <p:nvPr/>
        </p:nvSpPr>
        <p:spPr>
          <a:xfrm>
            <a:off x="8119872" y="2688336"/>
            <a:ext cx="100766" cy="86868"/>
          </a:xfrm>
          <a:prstGeom prst="hexagon">
            <a:avLst/>
          </a:prstGeom>
          <a:solidFill>
            <a:srgbClr val="D25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42" name="TextBox 17441"/>
          <p:cNvSpPr txBox="1"/>
          <p:nvPr/>
        </p:nvSpPr>
        <p:spPr>
          <a:xfrm>
            <a:off x="8275320" y="2628900"/>
            <a:ext cx="352958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Hess et al. (2018)</a:t>
            </a:r>
          </a:p>
          <a:p>
            <a:pPr algn="l">
              <a:lnSpc>
                <a:spcPct val="104000"/>
              </a:lnSpc>
            </a:pPr>
            <a:r>
              <a:rPr sz="819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Pilot evaluation of the Ahmedabad Heat Action Plan.</a:t>
            </a:r>
          </a:p>
        </p:txBody>
      </p:sp>
      <p:sp>
        <p:nvSpPr>
          <p:cNvPr id="17443" name="Hexagon 17442"/>
          <p:cNvSpPr/>
          <p:nvPr/>
        </p:nvSpPr>
        <p:spPr>
          <a:xfrm>
            <a:off x="8119872" y="3172968"/>
            <a:ext cx="100766" cy="86868"/>
          </a:xfrm>
          <a:prstGeom prst="hexagon">
            <a:avLst/>
          </a:prstGeom>
          <a:solidFill>
            <a:srgbClr val="D25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8275320" y="3113532"/>
            <a:ext cx="352958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IMD heatwave criteria</a:t>
            </a:r>
          </a:p>
          <a:p>
            <a:pPr algn="l">
              <a:lnSpc>
                <a:spcPct val="104000"/>
              </a:lnSpc>
            </a:pPr>
            <a:r>
              <a:rPr sz="819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The district-scale, dry-bulb baseline this improves on.</a:t>
            </a:r>
          </a:p>
        </p:txBody>
      </p:sp>
      <p:sp>
        <p:nvSpPr>
          <p:cNvPr id="17445" name="Hexagon 17444"/>
          <p:cNvSpPr/>
          <p:nvPr/>
        </p:nvSpPr>
        <p:spPr>
          <a:xfrm>
            <a:off x="8119872" y="3657600"/>
            <a:ext cx="100766" cy="86868"/>
          </a:xfrm>
          <a:prstGeom prst="hexagon">
            <a:avLst/>
          </a:prstGeom>
          <a:solidFill>
            <a:srgbClr val="D25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8275320" y="3598164"/>
            <a:ext cx="352958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NDMA, National Guidelines: Heat Wave (2019)</a:t>
            </a:r>
          </a:p>
          <a:p>
            <a:pPr algn="l">
              <a:lnSpc>
                <a:spcPct val="104000"/>
              </a:lnSpc>
            </a:pPr>
            <a:r>
              <a:rPr sz="819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The action framework our outputs are shaped to feed.</a:t>
            </a:r>
          </a:p>
        </p:txBody>
      </p:sp>
      <p:sp>
        <p:nvSpPr>
          <p:cNvPr id="17447" name="Hexagon 17446"/>
          <p:cNvSpPr/>
          <p:nvPr/>
        </p:nvSpPr>
        <p:spPr>
          <a:xfrm>
            <a:off x="8119872" y="4142232"/>
            <a:ext cx="100766" cy="86868"/>
          </a:xfrm>
          <a:prstGeom prst="hexagon">
            <a:avLst/>
          </a:prstGeom>
          <a:solidFill>
            <a:srgbClr val="D25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8275320" y="4082796"/>
            <a:ext cx="352958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Primary-source verification</a:t>
            </a:r>
          </a:p>
          <a:p>
            <a:pPr algn="l">
              <a:lnSpc>
                <a:spcPct val="104000"/>
              </a:lnSpc>
            </a:pPr>
            <a:r>
              <a:rPr sz="819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Casualty figures are checked against the source papers before any are quoted on stage.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384048" y="4663440"/>
            <a:ext cx="1142085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04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Provenance of every layer we ship — </a:t>
            </a:r>
            <a:r>
              <a:rPr sz="940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stated in the UI and in web/data/meta.json, because a number without its status is not evidence.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384048" y="5010912"/>
            <a:ext cx="1517904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1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484632" y="5102352"/>
            <a:ext cx="131673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Past weather</a:t>
            </a:r>
          </a:p>
          <a:p>
            <a:pPr algn="l">
              <a:lnSpc>
                <a:spcPct val="102000"/>
              </a:lnSpc>
              <a:spcBef>
                <a:spcPts val="200"/>
              </a:spcBef>
            </a:pPr>
            <a:r>
              <a:rPr sz="780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Open-Meteo ERA5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484632" y="5705856"/>
            <a:ext cx="1316736" cy="256032"/>
          </a:xfrm>
          <a:prstGeom prst="roundRect">
            <a:avLst>
              <a:gd name="adj" fmla="val 42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</a:pPr>
            <a:r>
              <a:rPr sz="68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MEASURED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2025395" y="5010912"/>
            <a:ext cx="1517904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1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2125979" y="5102352"/>
            <a:ext cx="131673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Urban form</a:t>
            </a:r>
          </a:p>
          <a:p>
            <a:pPr algn="l">
              <a:lnSpc>
                <a:spcPct val="102000"/>
              </a:lnSpc>
              <a:spcBef>
                <a:spcPts val="200"/>
              </a:spcBef>
            </a:pPr>
            <a:r>
              <a:rPr sz="780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OpenStreetMap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2125979" y="5705856"/>
            <a:ext cx="1316736" cy="256032"/>
          </a:xfrm>
          <a:prstGeom prst="roundRect">
            <a:avLst>
              <a:gd name="adj" fmla="val 42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</a:pPr>
            <a:r>
              <a:rPr sz="68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MEASURED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3666744" y="5010912"/>
            <a:ext cx="1517904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1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3767328" y="5102352"/>
            <a:ext cx="131673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Heat-stress indices</a:t>
            </a:r>
          </a:p>
          <a:p>
            <a:pPr algn="l">
              <a:lnSpc>
                <a:spcPct val="102000"/>
              </a:lnSpc>
              <a:spcBef>
                <a:spcPts val="200"/>
              </a:spcBef>
            </a:pPr>
            <a:r>
              <a:rPr sz="780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thermofeel / ECMWF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3767328" y="5705856"/>
            <a:ext cx="1316736" cy="256032"/>
          </a:xfrm>
          <a:prstGeom prst="roundRect">
            <a:avLst>
              <a:gd name="adj" fmla="val 42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</a:pPr>
            <a:r>
              <a:rPr sz="68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MEASURED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5308092" y="5010912"/>
            <a:ext cx="1517904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1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60" name="TextBox 17459"/>
          <p:cNvSpPr txBox="1"/>
          <p:nvPr/>
        </p:nvSpPr>
        <p:spPr>
          <a:xfrm>
            <a:off x="5408676" y="5102352"/>
            <a:ext cx="131673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Safe limits for a body</a:t>
            </a:r>
          </a:p>
          <a:p>
            <a:pPr algn="l">
              <a:lnSpc>
                <a:spcPct val="102000"/>
              </a:lnSpc>
              <a:spcBef>
                <a:spcPts val="200"/>
              </a:spcBef>
            </a:pPr>
            <a:r>
              <a:rPr sz="780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ISO 7243 + ACGIH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5408676" y="5705856"/>
            <a:ext cx="1316736" cy="256032"/>
          </a:xfrm>
          <a:prstGeom prst="roundRect">
            <a:avLst>
              <a:gd name="adj" fmla="val 42000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</a:pPr>
            <a:r>
              <a:rPr sz="68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PUBLISHED STANDARD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6949440" y="5010912"/>
            <a:ext cx="1517904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1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63" name="TextBox 17462"/>
          <p:cNvSpPr txBox="1"/>
          <p:nvPr/>
        </p:nvSpPr>
        <p:spPr>
          <a:xfrm>
            <a:off x="7050024" y="5102352"/>
            <a:ext cx="131673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Urban-heat amplitude</a:t>
            </a:r>
          </a:p>
          <a:p>
            <a:pPr algn="l">
              <a:lnSpc>
                <a:spcPct val="102000"/>
              </a:lnSpc>
              <a:spcBef>
                <a:spcPts val="200"/>
              </a:spcBef>
            </a:pPr>
            <a:r>
              <a:rPr sz="780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literature, 3.0 °C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7050024" y="5705856"/>
            <a:ext cx="1316736" cy="256032"/>
          </a:xfrm>
          <a:prstGeom prst="roundRect">
            <a:avLst>
              <a:gd name="adj" fmla="val 42000"/>
            </a:avLst>
          </a:prstGeom>
          <a:solidFill>
            <a:srgbClr val="D25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</a:pPr>
            <a:r>
              <a:rPr sz="68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ASSUMED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8590788" y="5010912"/>
            <a:ext cx="1517904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1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66" name="TextBox 17465"/>
          <p:cNvSpPr txBox="1"/>
          <p:nvPr/>
        </p:nvSpPr>
        <p:spPr>
          <a:xfrm>
            <a:off x="8691372" y="5102352"/>
            <a:ext cx="131673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Vulnerability</a:t>
            </a:r>
          </a:p>
          <a:p>
            <a:pPr algn="l">
              <a:lnSpc>
                <a:spcPct val="102000"/>
              </a:lnSpc>
              <a:spcBef>
                <a:spcPts val="200"/>
              </a:spcBef>
            </a:pPr>
            <a:r>
              <a:rPr sz="780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city-wide constant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8691372" y="5705856"/>
            <a:ext cx="1316736" cy="256032"/>
          </a:xfrm>
          <a:prstGeom prst="roundRect">
            <a:avLst>
              <a:gd name="adj" fmla="val 42000"/>
            </a:avLst>
          </a:prstGeom>
          <a:solidFill>
            <a:srgbClr val="8E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</a:pPr>
            <a:r>
              <a:rPr sz="68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NOT FITTED</a:t>
            </a:r>
          </a:p>
        </p:txBody>
      </p:sp>
      <p:sp>
        <p:nvSpPr>
          <p:cNvPr id="17468" name="Rounded Rectangle 17467"/>
          <p:cNvSpPr/>
          <p:nvPr/>
        </p:nvSpPr>
        <p:spPr>
          <a:xfrm>
            <a:off x="10232136" y="5010912"/>
            <a:ext cx="1517904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1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69" name="TextBox 17468"/>
          <p:cNvSpPr txBox="1"/>
          <p:nvPr/>
        </p:nvSpPr>
        <p:spPr>
          <a:xfrm>
            <a:off x="10332719" y="5102352"/>
            <a:ext cx="131673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241043"/>
                </a:solidFill>
                <a:latin typeface="Calibri"/>
                <a:ea typeface="Calibri"/>
                <a:cs typeface="Calibri"/>
              </a:rPr>
              <a:t>Health risk</a:t>
            </a:r>
          </a:p>
          <a:p>
            <a:pPr algn="l">
              <a:lnSpc>
                <a:spcPct val="102000"/>
              </a:lnSpc>
              <a:spcBef>
                <a:spcPts val="200"/>
              </a:spcBef>
            </a:pPr>
            <a:r>
              <a:rPr sz="780" b="0" i="0">
                <a:solidFill>
                  <a:srgbClr val="7A7F91"/>
                </a:solidFill>
                <a:latin typeface="Calibri"/>
                <a:ea typeface="Calibri"/>
                <a:cs typeface="Calibri"/>
              </a:rPr>
              <a:t>literature-shaped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10332719" y="5705856"/>
            <a:ext cx="1316736" cy="256032"/>
          </a:xfrm>
          <a:prstGeom prst="roundRect">
            <a:avLst>
              <a:gd name="adj" fmla="val 42000"/>
            </a:avLst>
          </a:prstGeom>
          <a:solidFill>
            <a:srgbClr val="8E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</a:pPr>
            <a:r>
              <a:rPr sz="68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NOT CALIBRATED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