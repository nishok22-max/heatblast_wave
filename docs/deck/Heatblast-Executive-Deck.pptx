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11000232" cy="40690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914400"/>
            <a:ext cx="310896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SMART INDIA HACKATHON 2026 · PROBLEM ID 26083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HEATBLAST / HEATLENS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F97316"/>
                </a:solidFill>
                <a:latin typeface="Calibri"/>
              </a:rPr>
              <a:t>Hyperlocal Human Thermal Stress &amp; Heatwave Early Warning Architecture</a:t>
            </a:r>
          </a:p>
          <a:p>
            <a:pPr>
              <a:spcBef>
                <a:spcPts val="1200"/>
              </a:spcBef>
            </a:pPr>
            <a:r>
              <a:rPr sz="1300">
                <a:solidFill>
                  <a:srgbClr val="94A3B8"/>
                </a:solidFill>
                <a:latin typeface="Calibri"/>
              </a:rPr>
              <a:t>Transforming crude district-scale thermometer readings into actionable physiological strain —
street by street, body by body, hour by hour.</a:t>
            </a:r>
          </a:p>
          <a:p>
            <a:pPr>
              <a:spcBef>
                <a:spcPts val="1400"/>
              </a:spcBef>
            </a:pPr>
            <a:r>
              <a:rPr sz="1050" b="1">
                <a:solidFill>
                  <a:srgbClr val="06B6D4"/>
                </a:solidFill>
              </a:rPr>
              <a:t>Theme: Disaster Management  ·  Deployment Pilot: Ahmedabad (392 Zones)  ·  100% Offline-Capable  ·  NDMA SACHET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846320"/>
            <a:ext cx="260604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56048"/>
            <a:ext cx="2331720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2800" b="1">
                <a:solidFill>
                  <a:srgbClr val="06B6D4"/>
                </a:solidFill>
                <a:latin typeface="Calibri"/>
              </a:rPr>
              <a:t>392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Urban Micro-Zones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Calibri"/>
              </a:rPr>
              <a:t>Uber H3 resolution-8 spatial grid (~0.74 km²)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846320"/>
            <a:ext cx="260604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4956048"/>
            <a:ext cx="2331720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2800" b="1">
                <a:solidFill>
                  <a:srgbClr val="F97316"/>
                </a:solidFill>
                <a:latin typeface="Calibri"/>
              </a:rPr>
              <a:t>3.88 °C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Intra-City Spread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Calibri"/>
              </a:rPr>
              <a:t>Microclimate delta between coolest &amp; hottest zones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4846320"/>
            <a:ext cx="260604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4956048"/>
            <a:ext cx="2331720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2800" b="1">
                <a:solidFill>
                  <a:srgbClr val="F59E0B"/>
                </a:solidFill>
                <a:latin typeface="Calibri"/>
              </a:rPr>
              <a:t>4 Physics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Environmental Inputs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Calibri"/>
              </a:rPr>
              <a:t>Solar radiation + humidity + wind + temperature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4846320"/>
            <a:ext cx="2606040" cy="141732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5712" y="4956048"/>
            <a:ext cx="2331720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2800" b="1">
                <a:solidFill>
                  <a:srgbClr val="10B981"/>
                </a:solidFill>
                <a:latin typeface="Calibri"/>
              </a:rPr>
              <a:t>135 / 135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  <a:latin typeface="Calibri"/>
              </a:rPr>
              <a:t>Physics Tests Passed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Calibri"/>
              </a:rPr>
              <a:t>Validated against ISO 7243, Liljegren &amp; ECMWF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1929384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PROBLEM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1F5F9"/>
                </a:solidFill>
                <a:latin typeface="Calibri"/>
              </a:rPr>
              <a:t>The Illusion of 40 °C: Why Weather Warnings Fail to Save Lives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Traditional warnings report air temperature on a thermometer. Human bodies shed heat through radiation and sweat evaporation.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alibri"/>
              </a:rPr>
              <a:t>HEATBLAST / HEATLENS  ·  Hyperlocal Human Thermal Stress Architecture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789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Calibri"/>
              </a:rP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3538728" cy="40233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3538728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91640"/>
            <a:ext cx="313639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The 'Dry vs Sticky' Blindspot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950" b="1">
                <a:solidFill>
                  <a:srgbClr val="EF4444"/>
                </a:solidFill>
                <a:latin typeface="Calibri"/>
              </a:rPr>
              <a:t>Thermometers cannot tell 40 °C at 15% humidity from 40 °C at 70% humidity.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  <a:latin typeface="Calibri"/>
              </a:rPr>
              <a:t>• Evaporative Cooling Shutdown: </a:t>
            </a:r>
            <a:r>
              <a:rPr sz="880">
                <a:solidFill>
                  <a:srgbClr val="94A3B8"/>
                </a:solidFill>
                <a:latin typeface="Calibri"/>
              </a:rPr>
              <a:t>At low humidity, sweat evaporates freely to cool the body. At high humidity, evaporative cooling collapses, triggering lethal heat exhaustion.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  <a:latin typeface="Calibri"/>
              </a:rPr>
              <a:t>• Dry Heat Misdirection: </a:t>
            </a:r>
            <a:r>
              <a:rPr sz="880">
                <a:solidFill>
                  <a:srgbClr val="94A3B8"/>
                </a:solidFill>
                <a:latin typeface="Calibri"/>
              </a:rPr>
              <a:t>In Ahmedabad's May 2010 disaster (1,344 deaths), humidity was only 14%. Standard worker indices registered 'safe' while radiant solar load was lethal.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  <a:latin typeface="Calibri"/>
              </a:rPr>
              <a:t>• Multi-variable Failure: </a:t>
            </a:r>
            <a:r>
              <a:rPr sz="880">
                <a:solidFill>
                  <a:srgbClr val="94A3B8"/>
                </a:solidFill>
                <a:latin typeface="Calibri"/>
              </a:rPr>
              <a:t>Air temperature alone ignores the three biggest biological drivers: direct sunshine, relative humidity, and air convection.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554480"/>
            <a:ext cx="3538728" cy="40233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554480"/>
            <a:ext cx="3538728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313639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Coarse Spatial &amp; Temporal Scale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950" b="1">
                <a:solidFill>
                  <a:srgbClr val="F97316"/>
                </a:solidFill>
                <a:latin typeface="Calibri"/>
              </a:rPr>
              <a:t>One broad district temperature broadcasted 24 hours too late.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  <a:latin typeface="Calibri"/>
              </a:rPr>
              <a:t>• Massive Intra-City Deltas: </a:t>
            </a:r>
            <a:r>
              <a:rPr sz="880">
                <a:solidFill>
                  <a:srgbClr val="94A3B8"/>
                </a:solidFill>
                <a:latin typeface="Calibri"/>
              </a:rPr>
              <a:t>Within the same city, dense concrete corridors run up to 4 °C hotter than tree-canopied or riverfront neighbourhoods.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  <a:latin typeface="Calibri"/>
              </a:rPr>
              <a:t>• Zero Targeted Action: </a:t>
            </a:r>
            <a:r>
              <a:rPr sz="880">
                <a:solidFill>
                  <a:srgbClr val="94A3B8"/>
                </a:solidFill>
                <a:latin typeface="Calibri"/>
              </a:rPr>
              <a:t>A single blanket alert tells commissioners nothing about which informal settlements or construction hubs need water tankers first.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  <a:latin typeface="Calibri"/>
              </a:rPr>
              <a:t>• Delayed Mobilisation: </a:t>
            </a:r>
            <a:r>
              <a:rPr sz="880">
                <a:solidFill>
                  <a:srgbClr val="94A3B8"/>
                </a:solidFill>
                <a:latin typeface="Calibri"/>
              </a:rPr>
              <a:t>Hospitals, disaster relief, and labour inspectors need 3 to 5 days advance warning to roster staff, distribute ORS, and shift work schedules.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554480"/>
            <a:ext cx="3538728" cy="40233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554480"/>
            <a:ext cx="3538728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691640"/>
            <a:ext cx="313639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The Night-Time Recovery Deficit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950" b="1">
                <a:solidFill>
                  <a:srgbClr val="A855F7"/>
                </a:solidFill>
                <a:latin typeface="Calibri"/>
              </a:rPr>
              <a:t>Daytime warnings are entirely blind to the nocturnal heat trap.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  <a:latin typeface="Calibri"/>
              </a:rPr>
              <a:t>• The 27 °C Biological Threshold: </a:t>
            </a:r>
            <a:r>
              <a:rPr sz="880">
                <a:solidFill>
                  <a:srgbClr val="94A3B8"/>
                </a:solidFill>
                <a:latin typeface="Calibri"/>
              </a:rPr>
              <a:t>A human cardiovascular system must drop below 27 °C core thermal equilibrium overnight to flush accumulated cardiac strain.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  <a:latin typeface="Calibri"/>
              </a:rPr>
              <a:t>• Consecutive Nocturnal Heat: </a:t>
            </a:r>
            <a:r>
              <a:rPr sz="880">
                <a:solidFill>
                  <a:srgbClr val="94A3B8"/>
                </a:solidFill>
                <a:latin typeface="Calibri"/>
              </a:rPr>
              <a:t>During peak heatwaves, nighttime temperatures never dip below 27–30 °C. The body enters each day already critically exhausted.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  <a:latin typeface="Calibri"/>
              </a:rPr>
              <a:t>• Invisible Midnight Peaks: </a:t>
            </a:r>
            <a:r>
              <a:rPr sz="880">
                <a:solidFill>
                  <a:srgbClr val="94A3B8"/>
                </a:solidFill>
                <a:latin typeface="Calibri"/>
              </a:rPr>
              <a:t>At midnight in May 2010, the Universal Thermal Climate Index (UTCI) still measured 33.1 °C ('Strong Heat Stress').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687568"/>
            <a:ext cx="11000232" cy="6217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42432"/>
            <a:ext cx="1063447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</a:rPr>
              <a:t>KEY TAKEAWAY: </a:t>
            </a:r>
            <a:r>
              <a:rPr sz="1000">
                <a:solidFill>
                  <a:srgbClr val="F1F5F9"/>
                </a:solidFill>
              </a:rPr>
              <a:t>Heat deaths in India are not caused by simple air temperature — they are caused by multi-day cardiovascular strain, nocturnal heat traps, and lack of localized early warning.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2432304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GEOSPATIAL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1F5F9"/>
                </a:solidFill>
                <a:latin typeface="Calibri"/>
              </a:rPr>
              <a:t>Resolving the City: 392 Micro-Zones via Discrete Global Grid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Replacing single-point regional weather with street-scale H3 hexagons capturing urban heat island intensity.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alibri"/>
              </a:rPr>
              <a:t>HEATBLAST / HEATLENS  ·  Hyperlocal Human Thermal Stress Architecture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789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Calibri"/>
              </a:rP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669280" cy="47548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_hex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394960" cy="31369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46520" y="1554480"/>
            <a:ext cx="514807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56248" y="1691639"/>
            <a:ext cx="73152" cy="804671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664207"/>
            <a:ext cx="47365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Calibri"/>
              </a:rPr>
              <a:t>Uber H3 Resolution-8 Tessellation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94A3B8"/>
                </a:solidFill>
                <a:latin typeface="Calibri"/>
              </a:rPr>
              <a:t>The city is partitioned into 392 compact hexagonal cells of ~0.74 km² each (~500m edge-to-edge). Provides seamless geometric adjacency without distorted administrative boundaries.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779776"/>
            <a:ext cx="514807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6248" y="2916936"/>
            <a:ext cx="73152" cy="804671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889504"/>
            <a:ext cx="47365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Calibri"/>
              </a:rPr>
              <a:t>Physical Urban Morphology (OpenStreetMap)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94A3B8"/>
                </a:solidFill>
                <a:latin typeface="Calibri"/>
              </a:rPr>
              <a:t>Every individual cell extracts real-world surface characteristics: road surface area, water proximity (Sabarmati river corridor), and tree canopy density to calculate localized surface thermal inertia.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005072"/>
            <a:ext cx="514807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56248" y="4142232"/>
            <a:ext cx="73152" cy="804671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4114800"/>
            <a:ext cx="47365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97316"/>
                </a:solidFill>
                <a:latin typeface="Calibri"/>
              </a:rPr>
              <a:t>Empirical 3.88 °C Intra-City Delta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94A3B8"/>
                </a:solidFill>
                <a:latin typeface="Calibri"/>
              </a:rPr>
              <a:t>Real validation across Ahmedabad reveals a 3.88 °C microclimate variance between dense industrial concrete pockets (e.g. Naroda, Vatva) and shaded riverfront residential sectors.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5230368"/>
            <a:ext cx="514807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56248" y="5367528"/>
            <a:ext cx="73152" cy="804671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5340096"/>
            <a:ext cx="47365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855F7"/>
                </a:solidFill>
                <a:latin typeface="Calibri"/>
              </a:rPr>
              <a:t>Automated Place Name Grounding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94A3B8"/>
                </a:solidFill>
                <a:latin typeface="Calibri"/>
              </a:rPr>
              <a:t>Rather than exposing obscure hex IDs (e.g. '8842cc6821fffff'), an automated spatial Overpass query grounds cells to 75 recognizable local neighbourhood names (Bodakdev, Navrangpura, Maninagar).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182880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THERMAL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1F5F9"/>
                </a:solidFill>
                <a:latin typeface="Calibri"/>
              </a:rPr>
              <a:t>The Multi-Index Physics Engine: Rigorous, Defensible, Validated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Combining international biometeorological standards into a unified, cross-validated compute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alibri"/>
              </a:rPr>
              <a:t>HEATBLAST / HEATLENS  ·  Hyperlocal Human Thermal Stress Architecture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789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Calibri"/>
              </a:rP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2606040" cy="17830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23317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F4444"/>
                </a:solidFill>
                <a:latin typeface="Calibri"/>
              </a:rPr>
              <a:t>UTCI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FFFFFF"/>
                </a:solidFill>
              </a:rPr>
              <a:t>Universal Thermal Climate Index</a:t>
            </a:r>
          </a:p>
          <a:p>
            <a:pPr>
              <a:spcBef>
                <a:spcPts val="600"/>
              </a:spcBef>
            </a:pPr>
            <a:r>
              <a:rPr sz="819">
                <a:solidFill>
                  <a:srgbClr val="94A3B8"/>
                </a:solidFill>
              </a:rPr>
              <a:t>Full multi-node dynamic human heat budget model simulating thermoregulation, sweat production, and clothing insulation. Captures extreme radiative stress.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2424" y="1554480"/>
            <a:ext cx="2606040" cy="17830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664208"/>
            <a:ext cx="23317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97316"/>
                </a:solidFill>
                <a:latin typeface="Calibri"/>
              </a:rPr>
              <a:t>Liljegren WBGT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FFFFFF"/>
                </a:solidFill>
              </a:rPr>
              <a:t>Wet-Bulb Globe Temperature</a:t>
            </a:r>
          </a:p>
          <a:p>
            <a:pPr>
              <a:spcBef>
                <a:spcPts val="600"/>
              </a:spcBef>
            </a:pPr>
            <a:r>
              <a:rPr sz="819">
                <a:solidFill>
                  <a:srgbClr val="94A3B8"/>
                </a:solidFill>
              </a:rPr>
              <a:t>Calculates solar radiant load via Direct Normal (DNI), Diffuse (DHI), and Zenith angle. Replaces crude approximations with rigorous environmental heat balance.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554480"/>
            <a:ext cx="2606040" cy="17830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64208"/>
            <a:ext cx="23317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Calibri"/>
              </a:rPr>
              <a:t>NOAA Heat Index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FFFFFF"/>
                </a:solidFill>
              </a:rPr>
              <a:t>National Weather Service Reg.</a:t>
            </a:r>
          </a:p>
          <a:p>
            <a:pPr>
              <a:spcBef>
                <a:spcPts val="600"/>
              </a:spcBef>
            </a:pPr>
            <a:r>
              <a:rPr sz="819">
                <a:solidFill>
                  <a:srgbClr val="94A3B8"/>
                </a:solidFill>
              </a:rPr>
              <a:t>Multi-variable Rothfusz polynomial with low/high humidity corrections for shade-equivalent apparent temperature reference.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554480"/>
            <a:ext cx="2606040" cy="17830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664208"/>
            <a:ext cx="23317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thermofeel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FFFFFF"/>
                </a:solidFill>
              </a:rPr>
              <a:t>ECMWF Operational Library</a:t>
            </a:r>
          </a:p>
          <a:p>
            <a:pPr>
              <a:spcBef>
                <a:spcPts val="600"/>
              </a:spcBef>
            </a:pPr>
            <a:r>
              <a:rPr sz="819">
                <a:solidFill>
                  <a:srgbClr val="94A3B8"/>
                </a:solidFill>
              </a:rPr>
              <a:t>The European Centre for Medium-Range Weather Forecasts' gold-standard biometeorology library, used as direct cross-validation.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93008"/>
            <a:ext cx="5943600" cy="281635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_ind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84448"/>
            <a:ext cx="5760720" cy="180081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720840" y="3493008"/>
            <a:ext cx="4873752" cy="281635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639312"/>
            <a:ext cx="4416552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10B981"/>
                </a:solidFill>
              </a:rPr>
              <a:t>135 Passing Automated Physics Tests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1F5F9"/>
                </a:solidFill>
              </a:rPr>
              <a:t>✔ NOAA Benchmark Tables: </a:t>
            </a:r>
            <a:r>
              <a:rPr sz="819">
                <a:solidFill>
                  <a:srgbClr val="94A3B8"/>
                </a:solidFill>
              </a:rPr>
              <a:t>Validated against NOAA Heat Index matrix across all temperature and relative humidity pairs.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1F5F9"/>
                </a:solidFill>
              </a:rPr>
              <a:t>✔ ISO 7243 Limits: </a:t>
            </a:r>
            <a:r>
              <a:rPr sz="819">
                <a:solidFill>
                  <a:srgbClr val="94A3B8"/>
                </a:solidFill>
              </a:rPr>
              <a:t>Checked against published physiological work/rest threshold curves.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1F5F9"/>
                </a:solidFill>
              </a:rPr>
              <a:t>✔ Stull (2011) Worked Examples: </a:t>
            </a:r>
            <a:r>
              <a:rPr sz="819">
                <a:solidFill>
                  <a:srgbClr val="94A3B8"/>
                </a:solidFill>
              </a:rPr>
              <a:t>Wet-bulb temperature matches analytical psychrometric values within 0.05 °C tolerance.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1F5F9"/>
                </a:solidFill>
              </a:rPr>
              <a:t>✔ ECMWF thermofeel Cross-Check: </a:t>
            </a:r>
            <a:r>
              <a:rPr sz="819">
                <a:solidFill>
                  <a:srgbClr val="94A3B8"/>
                </a:solidFill>
              </a:rPr>
              <a:t>Zero divergence against ECMWF's operational Liljegren and UTCI algorithms.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1F5F9"/>
                </a:solidFill>
              </a:rPr>
              <a:t>✔ Sub-second Vectorization: </a:t>
            </a:r>
            <a:r>
              <a:rPr sz="819">
                <a:solidFill>
                  <a:srgbClr val="94A3B8"/>
                </a:solidFill>
              </a:rPr>
              <a:t>NumPy vectorized engine computes 392 zones across 24 hours in under 1.8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2331720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PHYSIOLOGICAL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1F5F9"/>
                </a:solidFill>
                <a:latin typeface="Calibri"/>
              </a:rPr>
              <a:t>From Degrees to Human Minutes: Persona-Driven Work/Rest Regimes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Applying ISO 7243 and ACGIH TLV standards to convert thermal indices into safe minutes per hour.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alibri"/>
              </a:rPr>
              <a:t>HEATBLAST / HEATLENS  ·  Hyperlocal Human Thermal Stress Architecture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789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Calibri"/>
              </a:rP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2606040" cy="13258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3317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F4444"/>
                </a:solidFill>
              </a:rPr>
              <a:t>Outdoor Construction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FFFFFF"/>
                </a:solidFill>
              </a:rPr>
              <a:t>Heavy Metabolic (400 W)</a:t>
            </a:r>
          </a:p>
          <a:p>
            <a:pPr>
              <a:spcBef>
                <a:spcPts val="300"/>
              </a:spcBef>
            </a:pPr>
            <a:r>
              <a:rPr sz="780">
                <a:solidFill>
                  <a:srgbClr val="94A3B8"/>
                </a:solidFill>
              </a:rPr>
              <a:t>Direct solar radiation, unshaded physical exertion, highest dehydration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2424" y="1554480"/>
            <a:ext cx="2606040" cy="13258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645920"/>
            <a:ext cx="23317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97316"/>
                </a:solidFill>
              </a:rPr>
              <a:t>Gig / Delivery Rider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FFFFFF"/>
                </a:solidFill>
              </a:rPr>
              <a:t>Moderate Metabolic (250 W)</a:t>
            </a:r>
          </a:p>
          <a:p>
            <a:pPr>
              <a:spcBef>
                <a:spcPts val="300"/>
              </a:spcBef>
            </a:pPr>
            <a:r>
              <a:rPr sz="780">
                <a:solidFill>
                  <a:srgbClr val="94A3B8"/>
                </a:solidFill>
              </a:rPr>
              <a:t>Asphalt radiant reflection, helmet heat trapping, high road-surface thermal 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554480"/>
            <a:ext cx="2606040" cy="13258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45920"/>
            <a:ext cx="23317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School Child (Outdoors)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FFFFFF"/>
                </a:solidFill>
              </a:rPr>
              <a:t>High Surface-to-Mass</a:t>
            </a:r>
          </a:p>
          <a:p>
            <a:pPr>
              <a:spcBef>
                <a:spcPts val="300"/>
              </a:spcBef>
            </a:pPr>
            <a:r>
              <a:rPr sz="780">
                <a:solidFill>
                  <a:srgbClr val="94A3B8"/>
                </a:solidFill>
              </a:rPr>
              <a:t>Immature sweating mechanism, rapid core heating during mid-day recess.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1554480"/>
            <a:ext cx="2606040" cy="13258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645920"/>
            <a:ext cx="23317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855F7"/>
                </a:solidFill>
              </a:rPr>
              <a:t>Elderly Resident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FFFFFF"/>
                </a:solidFill>
              </a:rPr>
              <a:t>Resting Metabolic (115 W)</a:t>
            </a:r>
          </a:p>
          <a:p>
            <a:pPr>
              <a:spcBef>
                <a:spcPts val="300"/>
              </a:spcBef>
            </a:pPr>
            <a:r>
              <a:rPr sz="780">
                <a:solidFill>
                  <a:srgbClr val="94A3B8"/>
                </a:solidFill>
              </a:rPr>
              <a:t>Compromised cardiovascular dilation, exacerbated by hypertension medication.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035808"/>
            <a:ext cx="7132320" cy="327355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_work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27248"/>
            <a:ext cx="6949440" cy="188686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909560" y="3035808"/>
            <a:ext cx="3685032" cy="327355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182112"/>
            <a:ext cx="3319272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Operational Safety Insights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1F5F9"/>
                </a:solidFill>
              </a:rPr>
              <a:t>• Eight-Hour Cessation: </a:t>
            </a:r>
            <a:r>
              <a:rPr sz="850">
                <a:solidFill>
                  <a:srgbClr val="94A3B8"/>
                </a:solidFill>
              </a:rPr>
              <a:t>On 21 May 2010, outdoor construction was medically unsafe for 8 consecutive hours (09:00 to 17:00). Safe minutes dropped to zero.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1F5F9"/>
                </a:solidFill>
              </a:rPr>
              <a:t>• Dynamic Work Shifting: </a:t>
            </a:r>
            <a:r>
              <a:rPr sz="850">
                <a:solidFill>
                  <a:srgbClr val="94A3B8"/>
                </a:solidFill>
              </a:rPr>
              <a:t>Instead of blanket economic shutdowns, the model reveals safe 45-min/hr windows between 06:00–08:30 and after 18:00.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1F5F9"/>
                </a:solidFill>
              </a:rPr>
              <a:t>• Medical Defensibility: </a:t>
            </a:r>
            <a:r>
              <a:rPr sz="850">
                <a:solidFill>
                  <a:srgbClr val="94A3B8"/>
                </a:solidFill>
              </a:rPr>
              <a:t>Backed by ISO 7243 thresholds, providing labour commissioners legal and empirical backing for mandatory mid-day work bans.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2231136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NOCTURNAL HEAT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1F5F9"/>
                </a:solidFill>
                <a:latin typeface="Calibri"/>
              </a:rPr>
              <a:t>The Deadliest Factor: Nocturnal Recovery Deficit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Why heatwaves kill in the dark: analyzing seven consecutive nights of zero biological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alibri"/>
              </a:rPr>
              <a:t>HEATBLAST / HEATLENS  ·  Hyperlocal Human Thermal Stress Architecture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789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Calibri"/>
              </a:rP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669280" cy="47548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_n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5486400" cy="24470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46520" y="1554480"/>
            <a:ext cx="514807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56248" y="1691639"/>
            <a:ext cx="73152" cy="804671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664207"/>
            <a:ext cx="47365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F4444"/>
                </a:solidFill>
              </a:rPr>
              <a:t>The 27 °C Biological Cooling Barrier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94A3B8"/>
                </a:solidFill>
              </a:rPr>
              <a:t>Clinical physiology establishes that human core temperature cannot reset unless ambient air falls below 27 °C. Above 27 °C, peripheral vasodilation and heart rate remain elevated even during sleep.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779776"/>
            <a:ext cx="514807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6248" y="2916936"/>
            <a:ext cx="73152" cy="804671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889504"/>
            <a:ext cx="47365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97316"/>
                </a:solidFill>
              </a:rPr>
              <a:t>Seven Consecutive Trapped Nights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94A3B8"/>
                </a:solidFill>
              </a:rPr>
              <a:t>In May 2010 at Ahmedabad, nighttime temperatures registered 26.8, 27.0, 26.8, 26.7, 28.9, 30.2, and 30.7 °C. For 7 consecutive days, the population experienced 0 minutes of thermal relief.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005072"/>
            <a:ext cx="514807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56248" y="4142232"/>
            <a:ext cx="73152" cy="804671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4114800"/>
            <a:ext cx="47365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</a:rPr>
              <a:t>Midnight UTCI of 33.1 °C ('Strong Heat Stress')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94A3B8"/>
                </a:solidFill>
              </a:rPr>
              <a:t>Even at 00:00 hrs, dense urban areas radiated stored heat. Workers living in un-insulated tin-roof homes suffered heat accumulation that compounded day after 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5230368"/>
            <a:ext cx="514807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56248" y="5367528"/>
            <a:ext cx="73152" cy="804671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9128" y="5340096"/>
            <a:ext cx="4736592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Direct Municipal Countermeasure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94A3B8"/>
                </a:solidFill>
              </a:rPr>
              <a:t>Heatblast alerts trigger nighttime municipal protocols: opening air-conditioned community night shelters, activating green-roof hydration, and keeping public parks open 24/7.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2231136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1F5F9"/>
                </a:solidFill>
                <a:latin typeface="Calibri"/>
              </a:rPr>
              <a:t>End-to-End Pipeline: Ingestion, Compute, API &amp; Dissemination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A high-throughput, offline-resilient microservice architecture engineered for zero internet failure modes.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alibri"/>
              </a:rPr>
              <a:t>HEATBLAST / HEATLENS  ·  Hyperlocal Human Thermal Stress Architecture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789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Calibri"/>
              </a:rP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11000232" cy="3977639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3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10634472" cy="378413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5596128"/>
            <a:ext cx="2606040" cy="74980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5669280"/>
            <a:ext cx="54864" cy="60350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5632704"/>
            <a:ext cx="2313432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6B6D4"/>
                </a:solidFill>
                <a:latin typeface="Calibri"/>
              </a:rPr>
              <a:t>INGESTION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94A3B8"/>
                </a:solidFill>
                <a:latin typeface="Calibri"/>
              </a:rPr>
              <a:t>Open-Meteo ERA5 &amp; 5-Day Forecast API (Free, Global, No Paywalls)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5596128"/>
            <a:ext cx="2606040" cy="74980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83864" y="5669280"/>
            <a:ext cx="54864" cy="60350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5632704"/>
            <a:ext cx="2313432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0B981"/>
                </a:solidFill>
                <a:latin typeface="Calibri"/>
              </a:rPr>
              <a:t>PHYSICS CORE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94A3B8"/>
                </a:solidFill>
                <a:latin typeface="Calibri"/>
              </a:rPr>
              <a:t>Vectorized NumPy 3.12 Engine (392 Zones × 24h computed in &lt;1.8s)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5596128"/>
            <a:ext cx="2606040" cy="74980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81928" y="5669280"/>
            <a:ext cx="54864" cy="60350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5632704"/>
            <a:ext cx="2313432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F59E0B"/>
                </a:solidFill>
                <a:latin typeface="Calibri"/>
              </a:rPr>
              <a:t>API BACKEND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94A3B8"/>
                </a:solidFill>
                <a:latin typeface="Calibri"/>
              </a:rPr>
              <a:t>FastAPI Daemon with Async Background Cache &amp; Zero Lock Contention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5596128"/>
            <a:ext cx="2606040" cy="749808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79992" y="5669280"/>
            <a:ext cx="54864" cy="60350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5632704"/>
            <a:ext cx="2313432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A855F7"/>
                </a:solidFill>
                <a:latin typeface="Calibri"/>
              </a:rPr>
              <a:t>BROADCAST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94A3B8"/>
                </a:solidFill>
                <a:latin typeface="Calibri"/>
              </a:rPr>
              <a:t>Offline Single-File HTML / SVG Map + OASIS CAP 1.2 XML for NDMA SACHET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2029968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SCIENTIFIC RIGOUR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1F5F9"/>
                </a:solidFill>
                <a:latin typeface="Calibri"/>
              </a:rPr>
              <a:t>The Kill-Gate: Scientific Feasibility &amp; Sensitivity Stress Testing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Before building software, we rigorously tested whether neighbourhood-level differentiation holds true.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alibri"/>
              </a:rPr>
              <a:t>HEATBLAST / HEATLENS  ·  Hyperlocal Human Thermal Stress Architecture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789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Calibri"/>
              </a:rP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303520" cy="47548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4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5120640" cy="44207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80760" y="1554480"/>
            <a:ext cx="5513832" cy="47548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4_ri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330952" cy="46719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2029968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ACTIONABLE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1F5F9"/>
                </a:solidFill>
                <a:latin typeface="Calibri"/>
              </a:rPr>
              <a:t>From Data to Lives Saved: Multi-Stakeholder Action Matrix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Assigning direct, owner-specific operational playbooks 3 to 5 days before peak thermal strain hits.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alibri"/>
              </a:rPr>
              <a:t>HEATBLAST / HEATLENS  ·  Hyperlocal Human Thermal Stress Architecture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789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Calibri"/>
              </a:rP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852160" cy="224028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5_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5669280" cy="20210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3931920"/>
            <a:ext cx="5852160" cy="237744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54864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59E0B"/>
                </a:solidFill>
              </a:rPr>
              <a:t>Why Role-Specific Warnings Transform Outbreak Management</a:t>
            </a:r>
          </a:p>
          <a:p>
            <a:pPr>
              <a:spcBef>
                <a:spcPts val="400"/>
              </a:spcBef>
            </a:pPr>
            <a:r>
              <a:rPr sz="860" b="1">
                <a:solidFill>
                  <a:srgbClr val="F1F5F9"/>
                </a:solidFill>
              </a:rPr>
              <a:t>• Actionable Directives: </a:t>
            </a:r>
            <a:r>
              <a:rPr sz="819">
                <a:solidFill>
                  <a:srgbClr val="94A3B8"/>
                </a:solidFill>
              </a:rPr>
              <a:t>A public announcement of 'Drink water' does not protect a bricklayer on a scaffolding. Specific minutes-per-hour allowances give workers and site supervisors clear limits.</a:t>
            </a:r>
          </a:p>
          <a:p>
            <a:pPr>
              <a:spcBef>
                <a:spcPts val="400"/>
              </a:spcBef>
            </a:pPr>
            <a:r>
              <a:rPr sz="860" b="1">
                <a:solidFill>
                  <a:srgbClr val="F1F5F9"/>
                </a:solidFill>
              </a:rPr>
              <a:t>• Lead Time Mobilization: </a:t>
            </a:r>
            <a:r>
              <a:rPr sz="819">
                <a:solidFill>
                  <a:srgbClr val="94A3B8"/>
                </a:solidFill>
              </a:rPr>
              <a:t>Municipal water tankers and mobile hydration stations require 72 to 120 hours of logistics lead time to position effectively in informal settlements.</a:t>
            </a:r>
          </a:p>
          <a:p>
            <a:pPr>
              <a:spcBef>
                <a:spcPts val="400"/>
              </a:spcBef>
            </a:pPr>
            <a:r>
              <a:rPr sz="860" b="1">
                <a:solidFill>
                  <a:srgbClr val="F1F5F9"/>
                </a:solidFill>
              </a:rPr>
              <a:t>• Medical Triage Pre-emption: </a:t>
            </a:r>
            <a:r>
              <a:rPr sz="819">
                <a:solidFill>
                  <a:srgbClr val="94A3B8"/>
                </a:solidFill>
              </a:rPr>
              <a:t>Urban Primary Health Centres (UPHCs) receive expected heat-stroke casualty projections based on neighbourhood vulnerability scores, avoiding ER overcrowding.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554480"/>
            <a:ext cx="496519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39128" y="1682495"/>
            <a:ext cx="73152" cy="822959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664207"/>
            <a:ext cx="4581144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</a:rPr>
              <a:t>Municipal Commissioners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</a:rPr>
              <a:t>5-Day Spatial Lead: Prioritize emergency water tankers, install high-capacity shaded cooling corridors, and position mobile medical vans in ranked high-risk zones.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779776"/>
            <a:ext cx="496519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39128" y="2907792"/>
            <a:ext cx="73152" cy="822959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889504"/>
            <a:ext cx="4581144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0B981"/>
                </a:solidFill>
              </a:rPr>
              <a:t>Health Officers &amp; Hospitals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</a:rPr>
              <a:t>Prevent Surge Overload: Pre-stock intravenous fluids and ORS at Urban Primary Health Centres (UPHCs). Brief medical staff on heat-stroke triage 72h prior to peak.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4005072"/>
            <a:ext cx="496519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39128" y="4133087"/>
            <a:ext cx="73152" cy="822959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114800"/>
            <a:ext cx="4581144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97316"/>
                </a:solidFill>
              </a:rPr>
              <a:t>Labour Departments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</a:rPr>
              <a:t>Legally Enforceable Hours: Mandate work cessation during peak solar hours (11:00–16:00). Authorize morning and twilight split shifts to protect informal outdoor labour wages.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5230368"/>
            <a:ext cx="4965192" cy="10789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39128" y="5358383"/>
            <a:ext cx="73152" cy="822959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5340096"/>
            <a:ext cx="4581144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855F7"/>
                </a:solidFill>
              </a:rPr>
              <a:t>Power Grid / DISCOMs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94A3B8"/>
                </a:solidFill>
              </a:rPr>
              <a:t>Prevent Grid Cascade: Model hyper-localized cooling demand curves to pre-empt transformer overheating and prevent power outages during dangerous heatwave peaks.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20040"/>
            <a:ext cx="2532888" cy="2560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IMPLEMENTATION &amp;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1F5F9"/>
                </a:solidFill>
                <a:latin typeface="Calibri"/>
              </a:rPr>
              <a:t>Production Readiness, Provenance &amp; National Deployment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4A3B8"/>
                </a:solidFill>
                <a:latin typeface="Calibri"/>
              </a:rPr>
              <a:t>Honest data provenance, zero vendor lock-in, and a clear scaling roadmap for Indian cities.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Calibri"/>
              </a:rPr>
              <a:t>HEATBLAST / HEATLENS  ·  Hyperlocal Human Thermal Stress Architecture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789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4A3B8"/>
                </a:solidFill>
                <a:latin typeface="Calibri"/>
              </a:rP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3538728" cy="40233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3538728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91640"/>
            <a:ext cx="313639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>
                <a:solidFill>
                  <a:srgbClr val="FFFFFF"/>
                </a:solidFill>
              </a:rPr>
              <a:t>Honest Data Provenance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900" b="1">
                <a:solidFill>
                  <a:srgbClr val="10B981"/>
                </a:solidFill>
              </a:rPr>
              <a:t>Every layer explicitly declared in UI metadata: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Measured Layers: </a:t>
            </a:r>
            <a:r>
              <a:rPr sz="860">
                <a:solidFill>
                  <a:srgbClr val="94A3B8"/>
                </a:solidFill>
              </a:rPr>
              <a:t>ERA5 atmospheric inputs, OpenStreetMap urban form, and ECMWF thermofeel thermal stress.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Published Standards: </a:t>
            </a:r>
            <a:r>
              <a:rPr sz="860">
                <a:solidFill>
                  <a:srgbClr val="94A3B8"/>
                </a:solidFill>
              </a:rPr>
              <a:t>ISO 7243 metabolic limits &amp; ACGIH work/rest guidelines.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Explicit Assumptions: </a:t>
            </a:r>
            <a:r>
              <a:rPr sz="860">
                <a:solidFill>
                  <a:srgbClr val="94A3B8"/>
                </a:solidFill>
              </a:rPr>
              <a:t>Assumed 3.0 °C UHI amplitude stress-tested via sensitivity sweep.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Zero AI Black-Boxes: </a:t>
            </a:r>
            <a:r>
              <a:rPr sz="860">
                <a:solidFill>
                  <a:srgbClr val="94A3B8"/>
                </a:solidFill>
              </a:rPr>
              <a:t>No synthetic hallucinations; pure, auditable physical bioclimatology.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554480"/>
            <a:ext cx="3538728" cy="40233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554480"/>
            <a:ext cx="3538728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313639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>
                <a:solidFill>
                  <a:srgbClr val="FFFFFF"/>
                </a:solidFill>
              </a:rPr>
              <a:t>Deployment Verification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900" b="1">
                <a:solidFill>
                  <a:srgbClr val="06B6D4"/>
                </a:solidFill>
              </a:rPr>
              <a:t>Built, tested, and operational today: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135 Unit Tests: </a:t>
            </a:r>
            <a:r>
              <a:rPr sz="860">
                <a:solidFill>
                  <a:srgbClr val="94A3B8"/>
                </a:solidFill>
              </a:rPr>
              <a:t>100% test pass rate across psychrometrics, solar geometries, and indices.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Operational API: </a:t>
            </a:r>
            <a:r>
              <a:rPr sz="860">
                <a:solidFill>
                  <a:srgbClr val="94A3B8"/>
                </a:solidFill>
              </a:rPr>
              <a:t>FastAPI 0.141 backend actively running and serving live forecast endpoints.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Zero Cloud Dependency: </a:t>
            </a:r>
            <a:r>
              <a:rPr sz="860">
                <a:solidFill>
                  <a:srgbClr val="94A3B8"/>
                </a:solidFill>
              </a:rPr>
              <a:t>Entire frontend bundles to a single self-contained offline HTML file.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NDMA SACHET Ready: </a:t>
            </a:r>
            <a:r>
              <a:rPr sz="860">
                <a:solidFill>
                  <a:srgbClr val="94A3B8"/>
                </a:solidFill>
              </a:rPr>
              <a:t>Native OASIS CAP 1.2 XML generator for nationwide mobile emergency broadcast.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554480"/>
            <a:ext cx="3538728" cy="4023360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554480"/>
            <a:ext cx="3538728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691640"/>
            <a:ext cx="313639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50" b="1">
                <a:solidFill>
                  <a:srgbClr val="FFFFFF"/>
                </a:solidFill>
              </a:rPr>
              <a:t>National Scaling Roadmap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900" b="1">
                <a:solidFill>
                  <a:srgbClr val="F97316"/>
                </a:solidFill>
              </a:rPr>
              <a:t>Phased expansion across Indian metros: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Phase 1 (Pilot): </a:t>
            </a:r>
            <a:r>
              <a:rPr sz="860">
                <a:solidFill>
                  <a:srgbClr val="94A3B8"/>
                </a:solidFill>
              </a:rPr>
              <a:t>Ahmedabad operational validation (392 zones, complete historical hindcast).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Phase 2 (Corridor): </a:t>
            </a:r>
            <a:r>
              <a:rPr sz="860">
                <a:solidFill>
                  <a:srgbClr val="94A3B8"/>
                </a:solidFill>
              </a:rPr>
              <a:t>Expansion to Northern heat corridors: Delhi NCR, Lucknow, Nagpur, and Hyderabad.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Phase 3 (Satellite): </a:t>
            </a:r>
            <a:r>
              <a:rPr sz="860">
                <a:solidFill>
                  <a:srgbClr val="94A3B8"/>
                </a:solidFill>
              </a:rPr>
              <a:t>Integration of Sentinel-3 / Landsat Land Surface Temperature (LST) tiles.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900" b="1">
                <a:solidFill>
                  <a:srgbClr val="F1F5F9"/>
                </a:solidFill>
              </a:rPr>
              <a:t>• Phase 4 (NDMA Interconnect): </a:t>
            </a:r>
            <a:r>
              <a:rPr sz="860">
                <a:solidFill>
                  <a:srgbClr val="94A3B8"/>
                </a:solidFill>
              </a:rPr>
              <a:t>Automated feeds into State Disaster Management Authority (SDMA) dashboards.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687568"/>
            <a:ext cx="11000232" cy="621792"/>
          </a:xfrm>
          <a:prstGeom prst="roundRect">
            <a:avLst/>
          </a:prstGeom>
          <a:solidFill>
            <a:srgbClr val="141C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42432"/>
            <a:ext cx="10634472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0B981"/>
                </a:solidFill>
              </a:rPr>
              <a:t>MISSION: </a:t>
            </a:r>
            <a:r>
              <a:rPr sz="1000">
                <a:solidFill>
                  <a:srgbClr val="F1F5F9"/>
                </a:solidFill>
              </a:rPr>
              <a:t>Equipping Indian cities with medical-grade, hyperlocal heat warnings that tell vulnerable citizens and authorities exactly when, where, and how to 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